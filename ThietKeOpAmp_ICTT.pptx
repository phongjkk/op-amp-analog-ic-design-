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5" r:id="rId3"/>
    <p:sldId id="275" r:id="rId4"/>
    <p:sldId id="276" r:id="rId5"/>
    <p:sldId id="270" r:id="rId6"/>
    <p:sldId id="277" r:id="rId7"/>
    <p:sldId id="278" r:id="rId8"/>
    <p:sldId id="279" r:id="rId9"/>
    <p:sldId id="282" r:id="rId10"/>
    <p:sldId id="283" r:id="rId11"/>
    <p:sldId id="284" r:id="rId12"/>
    <p:sldId id="271" r:id="rId13"/>
    <p:sldId id="273" r:id="rId14"/>
    <p:sldId id="280" r:id="rId15"/>
    <p:sldId id="281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B7D70-95CF-A073-6AB4-142021DA5032}" v="2" dt="2026-07-16T15:01:24.307"/>
    <p1510:client id="{D64316D0-A4B5-4336-8AA5-0E72E0174AE6}" v="983" dt="2026-07-17T05:50:32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Kiểu Sá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14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7" Type="http://schemas.openxmlformats.org/officeDocument/2006/relationships/image" Target="../media/image7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386555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err="1"/>
              <a:t>Thiết</a:t>
            </a:r>
            <a:r>
              <a:rPr lang="en-US" sz="6000"/>
              <a:t> </a:t>
            </a:r>
            <a:r>
              <a:rPr lang="en-US" sz="6000" err="1"/>
              <a:t>kế</a:t>
            </a:r>
            <a:r>
              <a:rPr lang="en-US" sz="6000"/>
              <a:t> Op-Amp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270429"/>
            <a:ext cx="7342482" cy="4760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Môn </a:t>
            </a:r>
            <a:r>
              <a:rPr lang="en-US" sz="2800" b="0" err="1"/>
              <a:t>học</a:t>
            </a:r>
            <a:r>
              <a:rPr lang="en-US" sz="2800" b="0"/>
              <a:t>: </a:t>
            </a:r>
            <a:r>
              <a:rPr lang="en-US" sz="2800" b="0" err="1"/>
              <a:t>Thiết</a:t>
            </a:r>
            <a:r>
              <a:rPr lang="en-US" sz="2800" b="0"/>
              <a:t> </a:t>
            </a:r>
            <a:r>
              <a:rPr lang="en-US" sz="2800" b="0" err="1"/>
              <a:t>kế</a:t>
            </a:r>
            <a:r>
              <a:rPr lang="en-US" sz="2800" b="0"/>
              <a:t> IC </a:t>
            </a:r>
            <a:r>
              <a:rPr lang="en-US" sz="2800" b="0" err="1"/>
              <a:t>tương</a:t>
            </a:r>
            <a:r>
              <a:rPr lang="en-US" sz="2800" b="0"/>
              <a:t> </a:t>
            </a:r>
            <a:r>
              <a:rPr lang="en-US" sz="2800" b="0" err="1"/>
              <a:t>tự</a:t>
            </a:r>
            <a:endParaRPr lang="en-US" sz="2800" b="0"/>
          </a:p>
          <a:p>
            <a:r>
              <a:rPr lang="en-US" sz="2800" b="0"/>
              <a:t>GVHD: PGS.TS. Phạm Nguyễn Thanh Loan</a:t>
            </a:r>
          </a:p>
          <a:p>
            <a:endParaRPr lang="en-US" sz="2800" b="0"/>
          </a:p>
          <a:p>
            <a:endParaRPr lang="en-US" sz="2800" b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0E3D80E3-20FD-FEE2-75FD-830309EB23DE}"/>
              </a:ext>
            </a:extLst>
          </p:cNvPr>
          <p:cNvSpPr txBox="1">
            <a:spLocks/>
          </p:cNvSpPr>
          <p:nvPr/>
        </p:nvSpPr>
        <p:spPr>
          <a:xfrm>
            <a:off x="413012" y="4205979"/>
            <a:ext cx="1758688" cy="4760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0" err="1">
                <a:solidFill>
                  <a:schemeClr val="tx1"/>
                </a:solidFill>
              </a:rPr>
              <a:t>Nhóm</a:t>
            </a:r>
            <a:r>
              <a:rPr lang="en-US" sz="2000" b="0">
                <a:solidFill>
                  <a:schemeClr val="tx1"/>
                </a:solidFill>
              </a:rPr>
              <a:t> 10: </a:t>
            </a:r>
          </a:p>
          <a:p>
            <a:endParaRPr lang="en-US" sz="2000" b="0">
              <a:solidFill>
                <a:schemeClr val="tx1"/>
              </a:solidFill>
            </a:endParaRPr>
          </a:p>
          <a:p>
            <a:endParaRPr lang="en-US" sz="2000" b="0">
              <a:solidFill>
                <a:schemeClr val="tx1"/>
              </a:solidFill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95DE180-08F3-93CD-FBA7-AA19201595CF}"/>
              </a:ext>
            </a:extLst>
          </p:cNvPr>
          <p:cNvSpPr txBox="1">
            <a:spLocks/>
          </p:cNvSpPr>
          <p:nvPr/>
        </p:nvSpPr>
        <p:spPr>
          <a:xfrm>
            <a:off x="1639503" y="4205979"/>
            <a:ext cx="4889500" cy="21081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0">
                <a:solidFill>
                  <a:schemeClr val="tx1"/>
                </a:solidFill>
                <a:latin typeface="Lato"/>
                <a:ea typeface="Lato"/>
                <a:cs typeface="Lato"/>
              </a:rPr>
              <a:t>Nguyễn Nam Phong – 20241833E (30%)</a:t>
            </a:r>
            <a:endParaRPr lang="en-US" sz="2000" b="0">
              <a:solidFill>
                <a:schemeClr val="tx1"/>
              </a:solidFill>
            </a:endParaRPr>
          </a:p>
          <a:p>
            <a:r>
              <a:rPr lang="en-US" sz="2000" b="0">
                <a:solidFill>
                  <a:schemeClr val="tx1"/>
                </a:solidFill>
                <a:latin typeface="Lato"/>
                <a:ea typeface="Lato"/>
                <a:cs typeface="Lato"/>
              </a:rPr>
              <a:t>Vũ Hương Thảo - 20234036 (40%)</a:t>
            </a:r>
            <a:endParaRPr lang="en-US" sz="2000" b="0">
              <a:solidFill>
                <a:schemeClr val="tx1"/>
              </a:solidFill>
            </a:endParaRPr>
          </a:p>
          <a:p>
            <a:r>
              <a:rPr lang="en-US" sz="2000" b="0">
                <a:solidFill>
                  <a:schemeClr val="tx1"/>
                </a:solidFill>
                <a:latin typeface="Lato"/>
                <a:ea typeface="Lato"/>
                <a:cs typeface="Lato"/>
              </a:rPr>
              <a:t>Bùi Đình Phong – 20234030 (30%)</a:t>
            </a:r>
            <a:endParaRPr lang="en-US" sz="2000" b="0">
              <a:solidFill>
                <a:schemeClr val="tx1"/>
              </a:solidFill>
            </a:endParaRPr>
          </a:p>
          <a:p>
            <a:endParaRPr lang="en-US" sz="2000" b="0">
              <a:solidFill>
                <a:schemeClr val="tx1"/>
              </a:solidFill>
            </a:endParaRPr>
          </a:p>
          <a:p>
            <a:endParaRPr lang="en-US" sz="2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Mục </a:t>
            </a:r>
            <a:r>
              <a:rPr lang="en-US" err="1"/>
              <a:t>lục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514350" indent="-514350">
              <a:buAutoNum type="arabicPeriod"/>
            </a:pPr>
            <a:r>
              <a:rPr lang="en-US" err="1"/>
              <a:t>Yêu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endParaRPr lang="en-US"/>
          </a:p>
          <a:p>
            <a:pPr marL="514350" indent="-514350">
              <a:buAutoNum type="arabicPeriod"/>
            </a:pP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hoạch</a:t>
            </a:r>
            <a:endParaRPr lang="en-US"/>
          </a:p>
          <a:p>
            <a:pPr marL="514350" indent="-514350">
              <a:buAutoNum type="arabicPeriod"/>
            </a:pP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khối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PDK</a:t>
            </a:r>
          </a:p>
          <a:p>
            <a:pPr marL="514350" indent="-514350">
              <a:buAutoNum type="arabicPeriod"/>
            </a:pP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mạch</a:t>
            </a:r>
            <a:endParaRPr lang="en-US"/>
          </a:p>
          <a:p>
            <a:pPr marL="514350" indent="-514350">
              <a:buAutoNum type="arabicPeriod"/>
            </a:pP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phỏng</a:t>
            </a:r>
            <a:endParaRPr lang="en-US"/>
          </a:p>
          <a:p>
            <a:pPr marL="514350" indent="-514350">
              <a:buAutoNum type="arabicPeriod"/>
            </a:pP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luận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E92D63-E6D7-4D05-5747-72F7E40C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1108ED-B1FC-10DE-DC55-481D0967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Yêu cầu thiết kế</a:t>
            </a:r>
          </a:p>
        </p:txBody>
      </p:sp>
      <p:sp>
        <p:nvSpPr>
          <p:cNvPr id="5" name="Hộp Văn bản 3">
            <a:extLst>
              <a:ext uri="{FF2B5EF4-FFF2-40B4-BE49-F238E27FC236}">
                <a16:creationId xmlns:a16="http://schemas.microsoft.com/office/drawing/2014/main" id="{5142FA28-8496-0A3F-2E5D-407FCA0D821F}"/>
              </a:ext>
            </a:extLst>
          </p:cNvPr>
          <p:cNvSpPr txBox="1"/>
          <p:nvPr/>
        </p:nvSpPr>
        <p:spPr>
          <a:xfrm>
            <a:off x="288975" y="1058512"/>
            <a:ext cx="811390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Định nghĩa: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Op-amp (operational amplifier)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khuếch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lợi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rất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này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Op-Amp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hợp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mạng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hồi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âm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giúp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truyền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chỉ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thuộc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tử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nối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bên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ngoài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Op-amp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khuếch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đảo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(Inverting Amplifier)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khuếch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đảo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(Non-inverting Amplifier)</a:t>
            </a:r>
          </a:p>
        </p:txBody>
      </p:sp>
      <p:sp>
        <p:nvSpPr>
          <p:cNvPr id="6" name="Hộp Văn bản 7">
            <a:extLst>
              <a:ext uri="{FF2B5EF4-FFF2-40B4-BE49-F238E27FC236}">
                <a16:creationId xmlns:a16="http://schemas.microsoft.com/office/drawing/2014/main" id="{40F4B2F0-84BE-6159-23BA-EE99B9D9027A}"/>
              </a:ext>
            </a:extLst>
          </p:cNvPr>
          <p:cNvSpPr txBox="1"/>
          <p:nvPr/>
        </p:nvSpPr>
        <p:spPr>
          <a:xfrm>
            <a:off x="981905" y="5736188"/>
            <a:ext cx="2956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00" b="1" i="1" dirty="0">
                <a:latin typeface="Arial"/>
                <a:cs typeface="Arial"/>
              </a:rPr>
              <a:t>Hình 1: Mạch </a:t>
            </a:r>
            <a:r>
              <a:rPr lang="en-US" sz="1400" b="1" i="1" dirty="0" err="1">
                <a:latin typeface="Arial"/>
                <a:cs typeface="Arial"/>
              </a:rPr>
              <a:t>khuếch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đại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đảo</a:t>
            </a:r>
            <a:endParaRPr lang="vi-VN" sz="1400" b="1" i="1" dirty="0">
              <a:cs typeface="Arial" panose="020B0604020202020204" pitchFamily="34" charset="0"/>
            </a:endParaRPr>
          </a:p>
        </p:txBody>
      </p:sp>
      <p:sp>
        <p:nvSpPr>
          <p:cNvPr id="7" name="Hộp Văn bản 9">
            <a:extLst>
              <a:ext uri="{FF2B5EF4-FFF2-40B4-BE49-F238E27FC236}">
                <a16:creationId xmlns:a16="http://schemas.microsoft.com/office/drawing/2014/main" id="{F64EAC80-9FDD-EEF2-629F-3860AAF2D3E7}"/>
              </a:ext>
            </a:extLst>
          </p:cNvPr>
          <p:cNvSpPr txBox="1"/>
          <p:nvPr/>
        </p:nvSpPr>
        <p:spPr>
          <a:xfrm>
            <a:off x="5390786" y="5736187"/>
            <a:ext cx="33394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00" b="1" i="1" dirty="0">
                <a:latin typeface="Arial"/>
                <a:cs typeface="Arial"/>
              </a:rPr>
              <a:t>Hình 2: </a:t>
            </a:r>
            <a:r>
              <a:rPr lang="en-US" sz="1400" b="1" i="1" dirty="0" err="1">
                <a:latin typeface="Arial"/>
                <a:cs typeface="Arial"/>
              </a:rPr>
              <a:t>Mạch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khuếch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đại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không</a:t>
            </a:r>
            <a:r>
              <a:rPr lang="en-US" sz="1400" b="1" i="1" dirty="0">
                <a:latin typeface="Arial"/>
                <a:cs typeface="Arial"/>
              </a:rPr>
              <a:t> </a:t>
            </a:r>
            <a:r>
              <a:rPr lang="en-US" sz="1400" b="1" i="1" dirty="0" err="1">
                <a:latin typeface="Arial"/>
                <a:cs typeface="Arial"/>
              </a:rPr>
              <a:t>đảo</a:t>
            </a:r>
            <a:endParaRPr lang="vi-VN" sz="1400" b="1" i="1" dirty="0">
              <a:latin typeface="Arial"/>
              <a:cs typeface="Arial"/>
            </a:endParaRPr>
          </a:p>
        </p:txBody>
      </p:sp>
      <p:pic>
        <p:nvPicPr>
          <p:cNvPr id="8" name="Picture 7" descr="Op-Amp Non-inverting Amplifier Circuit | Spiceman">
            <a:extLst>
              <a:ext uri="{FF2B5EF4-FFF2-40B4-BE49-F238E27FC236}">
                <a16:creationId xmlns:a16="http://schemas.microsoft.com/office/drawing/2014/main" id="{5D68DE1F-6D43-AEC6-A1A2-F46F3772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080" y="3548120"/>
            <a:ext cx="3106903" cy="1820451"/>
          </a:xfrm>
          <a:prstGeom prst="rect">
            <a:avLst/>
          </a:prstGeom>
        </p:spPr>
      </p:pic>
      <p:pic>
        <p:nvPicPr>
          <p:cNvPr id="9" name="Picture 8" descr="Op-Amp Inverting Amplifier Circuit | Spiceman">
            <a:extLst>
              <a:ext uri="{FF2B5EF4-FFF2-40B4-BE49-F238E27FC236}">
                <a16:creationId xmlns:a16="http://schemas.microsoft.com/office/drawing/2014/main" id="{29BE3051-E839-D1B8-3459-DE12FC569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915" y="3548120"/>
            <a:ext cx="3006213" cy="209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0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37697B-6C1F-0540-37E7-2958AB15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A87B1D-1C5E-6CFB-6259-EED57E14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Yêu cầu thiết kế</a:t>
            </a:r>
          </a:p>
        </p:txBody>
      </p:sp>
      <p:sp>
        <p:nvSpPr>
          <p:cNvPr id="5" name="Hộp Văn bản 5">
            <a:extLst>
              <a:ext uri="{FF2B5EF4-FFF2-40B4-BE49-F238E27FC236}">
                <a16:creationId xmlns:a16="http://schemas.microsoft.com/office/drawing/2014/main" id="{09B27934-3261-E29E-FE5C-D45B778A4C46}"/>
              </a:ext>
            </a:extLst>
          </p:cNvPr>
          <p:cNvSpPr txBox="1"/>
          <p:nvPr/>
        </p:nvSpPr>
        <p:spPr>
          <a:xfrm>
            <a:off x="5261784" y="5774753"/>
            <a:ext cx="29564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00" b="1" i="1">
                <a:latin typeface="Arial"/>
                <a:cs typeface="Arial"/>
              </a:rPr>
              <a:t>Bảng 1: Yêu cầu thiết kế</a:t>
            </a:r>
            <a:endParaRPr lang="vi-VN" sz="1400" b="1">
              <a:latin typeface="Arial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FE15D38-41CB-0970-A76F-F1C460597F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0550600"/>
                  </p:ext>
                </p:extLst>
              </p:nvPr>
            </p:nvGraphicFramePr>
            <p:xfrm>
              <a:off x="4572000" y="1203512"/>
              <a:ext cx="4336026" cy="4450976"/>
            </p:xfrm>
            <a:graphic>
              <a:graphicData uri="http://schemas.openxmlformats.org/drawingml/2006/table">
                <a:tbl>
                  <a:tblPr/>
                  <a:tblGrid>
                    <a:gridCol w="2168013">
                      <a:extLst>
                        <a:ext uri="{9D8B030D-6E8A-4147-A177-3AD203B41FA5}">
                          <a16:colId xmlns:a16="http://schemas.microsoft.com/office/drawing/2014/main" val="2294196624"/>
                        </a:ext>
                      </a:extLst>
                    </a:gridCol>
                    <a:gridCol w="2168013">
                      <a:extLst>
                        <a:ext uri="{9D8B030D-6E8A-4147-A177-3AD203B41FA5}">
                          <a16:colId xmlns:a16="http://schemas.microsoft.com/office/drawing/2014/main" val="2280218636"/>
                        </a:ext>
                      </a:extLst>
                    </a:gridCol>
                  </a:tblGrid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Thông </a:t>
                          </a:r>
                          <a:r>
                            <a:rPr lang="en-US" sz="1300" b="1" i="0" u="none" strike="noStrike" err="1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số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497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rial"/>
                            </a:rPr>
                            <a:t>Giá trị</a:t>
                          </a:r>
                          <a:endParaRPr lang="en-US" sz="1400" b="0" i="0" err="1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497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088407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PDK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Generic 350n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5379479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baseline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baseline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baseline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0" baseline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≥100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8994742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BW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≥10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b="0" i="0" err="1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763817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Phase Margin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670543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VDD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3.3 V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197510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Power Consp.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≤200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@3.3</m:t>
                                </m:r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827855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1pF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9532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FE15D38-41CB-0970-A76F-F1C460597F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0550600"/>
                  </p:ext>
                </p:extLst>
              </p:nvPr>
            </p:nvGraphicFramePr>
            <p:xfrm>
              <a:off x="4572000" y="1203512"/>
              <a:ext cx="4336026" cy="4450976"/>
            </p:xfrm>
            <a:graphic>
              <a:graphicData uri="http://schemas.openxmlformats.org/drawingml/2006/table">
                <a:tbl>
                  <a:tblPr/>
                  <a:tblGrid>
                    <a:gridCol w="2168013">
                      <a:extLst>
                        <a:ext uri="{9D8B030D-6E8A-4147-A177-3AD203B41FA5}">
                          <a16:colId xmlns:a16="http://schemas.microsoft.com/office/drawing/2014/main" val="2294196624"/>
                        </a:ext>
                      </a:extLst>
                    </a:gridCol>
                    <a:gridCol w="2168013">
                      <a:extLst>
                        <a:ext uri="{9D8B030D-6E8A-4147-A177-3AD203B41FA5}">
                          <a16:colId xmlns:a16="http://schemas.microsoft.com/office/drawing/2014/main" val="2280218636"/>
                        </a:ext>
                      </a:extLst>
                    </a:gridCol>
                  </a:tblGrid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Thông </a:t>
                          </a:r>
                          <a:r>
                            <a:rPr lang="en-US" sz="1300" b="1" i="0" u="none" strike="noStrike" err="1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số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497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rial"/>
                            </a:rPr>
                            <a:t>Giá trị</a:t>
                          </a:r>
                          <a:endParaRPr lang="en-US" sz="1400" b="0" i="0" err="1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497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088407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PDK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Generic 350n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5379479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1" t="-202198" r="-100281" b="-5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81" t="-202198" r="-281" b="-5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8994742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BW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81" t="-298913" r="-281" b="-397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763817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Phase Margin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81" t="-403297" r="-281" b="-3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670543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VDD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3.3 V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197510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Power Consp.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81" t="-596739" r="-28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827855"/>
                      </a:ext>
                    </a:extLst>
                  </a:tr>
                  <a:tr h="55637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1" t="-704396" r="-100281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>
                            <a:lnSpc>
                              <a:spcPts val="1950"/>
                            </a:lnSpc>
                          </a:pPr>
                          <a:r>
                            <a:rPr lang="en-US" sz="13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</a:rPr>
                            <a:t>1pF</a:t>
                          </a:r>
                          <a:endParaRPr lang="en-US" sz="1400" b="0" i="0">
                            <a:solidFill>
                              <a:srgbClr val="000000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72099" marR="72099" marT="36049" marB="36049" anchor="ctr">
                        <a:lnL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95329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Nhóm 3">
            <a:extLst>
              <a:ext uri="{FF2B5EF4-FFF2-40B4-BE49-F238E27FC236}">
                <a16:creationId xmlns:a16="http://schemas.microsoft.com/office/drawing/2014/main" id="{D69D9C6B-5220-F77B-26CD-217FE608958A}"/>
              </a:ext>
            </a:extLst>
          </p:cNvPr>
          <p:cNvGrpSpPr/>
          <p:nvPr/>
        </p:nvGrpSpPr>
        <p:grpSpPr>
          <a:xfrm>
            <a:off x="1539" y="1655680"/>
            <a:ext cx="4443092" cy="3836508"/>
            <a:chOff x="170948" y="1674730"/>
            <a:chExt cx="4443092" cy="3836508"/>
          </a:xfrm>
        </p:grpSpPr>
        <p:pic>
          <p:nvPicPr>
            <p:cNvPr id="8" name="Hình ảnh 4">
              <a:extLst>
                <a:ext uri="{FF2B5EF4-FFF2-40B4-BE49-F238E27FC236}">
                  <a16:creationId xmlns:a16="http://schemas.microsoft.com/office/drawing/2014/main" id="{F7C28AAE-F209-17FF-04EB-0201EA173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204" y="1674733"/>
              <a:ext cx="4139796" cy="377167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AD12EF-CEBC-F72A-F2F1-0B8A78029C32}"/>
                </a:ext>
              </a:extLst>
            </p:cNvPr>
            <p:cNvSpPr txBox="1"/>
            <p:nvPr/>
          </p:nvSpPr>
          <p:spPr>
            <a:xfrm>
              <a:off x="1735496" y="3560568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85A7C8-730B-2658-85D9-12B9792AE2C8}"/>
                </a:ext>
              </a:extLst>
            </p:cNvPr>
            <p:cNvSpPr txBox="1"/>
            <p:nvPr/>
          </p:nvSpPr>
          <p:spPr>
            <a:xfrm>
              <a:off x="2668558" y="3560567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5A56A4-1C85-538E-4882-4B5CEA2997BA}"/>
                </a:ext>
              </a:extLst>
            </p:cNvPr>
            <p:cNvSpPr txBox="1"/>
            <p:nvPr/>
          </p:nvSpPr>
          <p:spPr>
            <a:xfrm>
              <a:off x="1418255" y="2287016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D82822-3290-E761-4516-DC7CD8037197}"/>
                </a:ext>
              </a:extLst>
            </p:cNvPr>
            <p:cNvSpPr txBox="1"/>
            <p:nvPr/>
          </p:nvSpPr>
          <p:spPr>
            <a:xfrm>
              <a:off x="3116426" y="2287015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E277E4-BB21-6774-7E00-2E30DABCB952}"/>
                </a:ext>
              </a:extLst>
            </p:cNvPr>
            <p:cNvSpPr txBox="1"/>
            <p:nvPr/>
          </p:nvSpPr>
          <p:spPr>
            <a:xfrm>
              <a:off x="2379359" y="4762737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D24E7F-A48E-53CA-9ABC-80F0A1409423}"/>
                </a:ext>
              </a:extLst>
            </p:cNvPr>
            <p:cNvSpPr txBox="1"/>
            <p:nvPr/>
          </p:nvSpPr>
          <p:spPr>
            <a:xfrm>
              <a:off x="376220" y="4762736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11E06E-E2A8-F0F0-B5EE-2209B29EFB9C}"/>
                </a:ext>
              </a:extLst>
            </p:cNvPr>
            <p:cNvSpPr txBox="1"/>
            <p:nvPr/>
          </p:nvSpPr>
          <p:spPr>
            <a:xfrm>
              <a:off x="4166172" y="2737994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ED7D6D-BDFD-3560-3736-556314269C15}"/>
                    </a:ext>
                  </a:extLst>
                </p:cNvPr>
                <p:cNvSpPr txBox="1"/>
                <p:nvPr/>
              </p:nvSpPr>
              <p:spPr>
                <a:xfrm>
                  <a:off x="3264218" y="3422066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5ED7D6D-BDFD-3560-3736-556314269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4218" y="3422066"/>
                  <a:ext cx="60015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E32400-44AF-202A-2094-409F11B6E6DB}"/>
                    </a:ext>
                  </a:extLst>
                </p:cNvPr>
                <p:cNvSpPr txBox="1"/>
                <p:nvPr/>
              </p:nvSpPr>
              <p:spPr>
                <a:xfrm>
                  <a:off x="1006211" y="3406090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E32400-44AF-202A-2094-409F11B6E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211" y="3406090"/>
                  <a:ext cx="600152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9E2FB70-EBD7-94D6-2D99-CCEC6173BFCA}"/>
                    </a:ext>
                  </a:extLst>
                </p:cNvPr>
                <p:cNvSpPr txBox="1"/>
                <p:nvPr/>
              </p:nvSpPr>
              <p:spPr>
                <a:xfrm>
                  <a:off x="170948" y="2876493"/>
                  <a:ext cx="600152" cy="4764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n-US" sz="1200" b="0"/>
                </a:p>
                <a:p>
                  <a:endParaRPr lang="en-US" sz="120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9E2FB70-EBD7-94D6-2D99-CCEC6173B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48" y="2876493"/>
                  <a:ext cx="600152" cy="4764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B0DDCC-46A7-518C-A63D-85815EFDBBD1}"/>
                    </a:ext>
                  </a:extLst>
                </p:cNvPr>
                <p:cNvSpPr txBox="1"/>
                <p:nvPr/>
              </p:nvSpPr>
              <p:spPr>
                <a:xfrm>
                  <a:off x="2227075" y="1674730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𝑉𝐷𝐷</m:t>
                        </m:r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B0DDCC-46A7-518C-A63D-85815EFDB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7075" y="1674730"/>
                  <a:ext cx="60015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2C87351-4F8E-4BA4-566B-F52BE05C3F92}"/>
                    </a:ext>
                  </a:extLst>
                </p:cNvPr>
                <p:cNvSpPr txBox="1"/>
                <p:nvPr/>
              </p:nvSpPr>
              <p:spPr>
                <a:xfrm>
                  <a:off x="2079283" y="5234239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𝐺𝑁𝐷</m:t>
                        </m:r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2C87351-4F8E-4BA4-566B-F52BE05C3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9283" y="5234239"/>
                  <a:ext cx="600152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2349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5DB155C6-94ED-E961-A8C0-49A6B03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DA09B87D-8A2D-4ACD-F1A3-59076B459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hoạch</a:t>
            </a:r>
            <a:endParaRPr lang="vi-VN"/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527B5745-7228-1147-0945-F09F0E60A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6048"/>
              </p:ext>
            </p:extLst>
          </p:nvPr>
        </p:nvGraphicFramePr>
        <p:xfrm>
          <a:off x="250937" y="1371036"/>
          <a:ext cx="8673844" cy="4193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28">
                  <a:extLst>
                    <a:ext uri="{9D8B030D-6E8A-4147-A177-3AD203B41FA5}">
                      <a16:colId xmlns:a16="http://schemas.microsoft.com/office/drawing/2014/main" val="3932071703"/>
                    </a:ext>
                  </a:extLst>
                </a:gridCol>
                <a:gridCol w="2943614">
                  <a:extLst>
                    <a:ext uri="{9D8B030D-6E8A-4147-A177-3AD203B41FA5}">
                      <a16:colId xmlns:a16="http://schemas.microsoft.com/office/drawing/2014/main" val="955835682"/>
                    </a:ext>
                  </a:extLst>
                </a:gridCol>
                <a:gridCol w="3810002">
                  <a:extLst>
                    <a:ext uri="{9D8B030D-6E8A-4147-A177-3AD203B41FA5}">
                      <a16:colId xmlns:a16="http://schemas.microsoft.com/office/drawing/2014/main" val="2291213935"/>
                    </a:ext>
                  </a:extLst>
                </a:gridCol>
              </a:tblGrid>
              <a:tr h="545855">
                <a:tc>
                  <a:txBody>
                    <a:bodyPr/>
                    <a:lstStyle/>
                    <a:p>
                      <a:pPr algn="ctr"/>
                      <a:r>
                        <a:rPr lang="en-US" sz="2000" b="1" err="1">
                          <a:solidFill>
                            <a:schemeClr val="bg1"/>
                          </a:solidFill>
                        </a:rPr>
                        <a:t>Bước</a:t>
                      </a:r>
                      <a:endParaRPr lang="vi-VN" sz="2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err="1">
                          <a:solidFill>
                            <a:schemeClr val="bg1"/>
                          </a:solidFill>
                        </a:rPr>
                        <a:t>Nội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 dung</a:t>
                      </a:r>
                      <a:endParaRPr lang="vi-VN" sz="2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Chi </a:t>
                      </a:r>
                      <a:r>
                        <a:rPr lang="en-US" sz="2000" b="1" err="1">
                          <a:solidFill>
                            <a:schemeClr val="bg1"/>
                          </a:solidFill>
                        </a:rPr>
                        <a:t>tiết</a:t>
                      </a:r>
                      <a:endParaRPr lang="vi-VN" sz="20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572181"/>
                  </a:ext>
                </a:extLst>
              </a:tr>
              <a:tr h="66533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Khảo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sát</a:t>
                      </a:r>
                      <a:r>
                        <a:rPr lang="en-US"/>
                        <a:t> PDK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Vẽ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mạch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khảo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sát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các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thông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số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biến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thiên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theo</a:t>
                      </a:r>
                      <a:r>
                        <a:rPr lang="en-US"/>
                        <a:t> W </a:t>
                      </a:r>
                      <a:r>
                        <a:rPr lang="en-US" err="1"/>
                        <a:t>và</a:t>
                      </a:r>
                      <a:r>
                        <a:rPr lang="en-US"/>
                        <a:t> L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541838"/>
                  </a:ext>
                </a:extLst>
              </a:tr>
              <a:tr h="66533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Phân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tích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yêu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cầu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thiết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kế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Định </a:t>
                      </a:r>
                      <a:r>
                        <a:rPr lang="en-US" err="1"/>
                        <a:t>nghĩa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và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tìm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hiểu</a:t>
                      </a:r>
                      <a:r>
                        <a:rPr lang="en-US"/>
                        <a:t> trade-off </a:t>
                      </a:r>
                      <a:r>
                        <a:rPr lang="en-US" err="1"/>
                        <a:t>giữa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các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thống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số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12860"/>
                  </a:ext>
                </a:extLst>
              </a:tr>
              <a:tr h="5458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Tính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toán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lý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thuyết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Tính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toán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kích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thước</a:t>
                      </a:r>
                      <a:r>
                        <a:rPr lang="en-US"/>
                        <a:t> MOSFETs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640990"/>
                  </a:ext>
                </a:extLst>
              </a:tr>
              <a:tr h="66533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Vẽ</a:t>
                      </a:r>
                      <a:r>
                        <a:rPr lang="en-US"/>
                        <a:t> schematic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Vẽ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mạch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để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chạy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mô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phỏng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thiết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lập</a:t>
                      </a:r>
                      <a:r>
                        <a:rPr lang="en-US"/>
                        <a:t> testbench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85511"/>
                  </a:ext>
                </a:extLst>
              </a:tr>
              <a:tr h="5458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Mô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phỏng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Chạy</a:t>
                      </a:r>
                      <a:r>
                        <a:rPr lang="en-US" dirty="0"/>
                        <a:t> DC op, AC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55524"/>
                  </a:ext>
                </a:extLst>
              </a:tr>
              <a:tr h="56014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Kết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luận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Nhận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xét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được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64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63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582DA2-7108-8F08-01BE-90FE8B6A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CD9F64-BFAF-1A4D-B570-AC76E165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ato"/>
                <a:ea typeface="Lato"/>
                <a:cs typeface="Lato"/>
              </a:rPr>
              <a:t>3. Thiết kế các khối và khảo sát PDK</a:t>
            </a:r>
            <a:endParaRPr lang="en-US"/>
          </a:p>
        </p:txBody>
      </p:sp>
      <p:pic>
        <p:nvPicPr>
          <p:cNvPr id="5" name="Hình ảnh 8" descr="Ảnh có chứa biểu đồ, văn bản, ảnh chụp màn hình, vòng tròn&#10;&#10;Nội dung do AI tạo ra có thể không chính xác.">
            <a:extLst>
              <a:ext uri="{FF2B5EF4-FFF2-40B4-BE49-F238E27FC236}">
                <a16:creationId xmlns:a16="http://schemas.microsoft.com/office/drawing/2014/main" id="{BC0C4A36-2D9F-1483-D3EA-2717C6BA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563" y="3774770"/>
            <a:ext cx="2552700" cy="2181225"/>
          </a:xfrm>
          <a:prstGeom prst="rect">
            <a:avLst/>
          </a:prstGeom>
        </p:spPr>
      </p:pic>
      <p:pic>
        <p:nvPicPr>
          <p:cNvPr id="6" name="Hình ảnh 9">
            <a:extLst>
              <a:ext uri="{FF2B5EF4-FFF2-40B4-BE49-F238E27FC236}">
                <a16:creationId xmlns:a16="http://schemas.microsoft.com/office/drawing/2014/main" id="{554D02EC-6F8C-37BD-CAAF-AF3A0046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383" y="1398283"/>
            <a:ext cx="1838325" cy="4752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86E27-8B6B-A924-DBD5-12A8FA027A04}"/>
                  </a:ext>
                </a:extLst>
              </p:cNvPr>
              <p:cNvSpPr txBox="1"/>
              <p:nvPr/>
            </p:nvSpPr>
            <p:spPr>
              <a:xfrm>
                <a:off x="522962" y="1398283"/>
                <a:ext cx="4572000" cy="2917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vi-VN" b="1">
                    <a:latin typeface="Arial"/>
                    <a:cs typeface="Arial"/>
                  </a:rPr>
                  <a:t>Khảo sát </a:t>
                </a:r>
                <a:r>
                  <a:rPr lang="en-US" b="1">
                    <a:latin typeface="Arial"/>
                    <a:cs typeface="Arial"/>
                  </a:rPr>
                  <a:t>P</a:t>
                </a:r>
                <a:r>
                  <a:rPr lang="vi-VN" b="1">
                    <a:latin typeface="Arial"/>
                    <a:cs typeface="Arial"/>
                  </a:rPr>
                  <a:t>MOS tại:</a:t>
                </a:r>
                <a:endParaRPr lang="vi-VN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  <a:cs typeface="Arial"/>
                      </a:rPr>
                      <m:t>=−1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  <a:cs typeface="Arial"/>
                      </a:rPr>
                      <m:t>𝑉</m:t>
                    </m:r>
                  </m:oMath>
                </a14:m>
                <a:endParaRPr lang="en-US">
                  <a:latin typeface="Arial"/>
                  <a:ea typeface="Cambria Math"/>
                  <a:cs typeface="Arial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=−3.3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𝑉</m:t>
                    </m:r>
                  </m:oMath>
                </a14:m>
                <a:endParaRPr lang="en-US">
                  <a:latin typeface="Arial"/>
                  <a:cs typeface="Arial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𝑊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b="0" i="1">
                  <a:latin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/>
                        </a:rPr>
                        <m:t>=1.39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=0.77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𝑉</m:t>
                      </m:r>
                    </m:oMath>
                  </m:oMathPara>
                </a14:m>
                <a:endParaRPr lang="en-US" b="0">
                  <a:latin typeface="Arial"/>
                  <a:ea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⟹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𝑜𝑥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≈52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∕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=0.023</m:t>
                      </m:r>
                    </m:oMath>
                  </m:oMathPara>
                </a14:m>
                <a:endParaRPr lang="en-US" b="0">
                  <a:latin typeface="Arial"/>
                  <a:ea typeface="Cambria Math" panose="02040503050406030204" pitchFamily="18" charset="0"/>
                  <a:cs typeface="Arial"/>
                </a:endParaRPr>
              </a:p>
              <a:p>
                <a:endParaRPr lang="en-US" sz="2000" b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886E27-8B6B-A924-DBD5-12A8FA027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62" y="1398283"/>
                <a:ext cx="4572000" cy="2917209"/>
              </a:xfrm>
              <a:prstGeom prst="rect">
                <a:avLst/>
              </a:prstGeom>
              <a:blipFill>
                <a:blip r:embed="rId4"/>
                <a:stretch>
                  <a:fillRect l="-933" t="-10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98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E50E-37F7-BB2D-85B6-B85DA0AF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7758E-DD51-91A0-FA37-656BD870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0D0663-36BC-FC55-D0B9-931EA901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ato"/>
                <a:ea typeface="Lato"/>
                <a:cs typeface="Lato"/>
              </a:rPr>
              <a:t>3. Thiết kế các khối và khảo sát PDK</a:t>
            </a:r>
            <a:endParaRPr lang="en-US"/>
          </a:p>
        </p:txBody>
      </p:sp>
      <p:pic>
        <p:nvPicPr>
          <p:cNvPr id="4" name="Hình ảnh 2" descr="Ảnh có chứa văn bản, Phông chữ, ảnh chụp màn hình, thuật in máy&#10;&#10;Nội dung do AI tạo ra có thể không chính xác.">
            <a:extLst>
              <a:ext uri="{FF2B5EF4-FFF2-40B4-BE49-F238E27FC236}">
                <a16:creationId xmlns:a16="http://schemas.microsoft.com/office/drawing/2014/main" id="{8261A155-B99B-63A9-DC31-9747F9A1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343" y="1644236"/>
            <a:ext cx="1820580" cy="4589093"/>
          </a:xfrm>
          <a:prstGeom prst="rect">
            <a:avLst/>
          </a:prstGeom>
        </p:spPr>
      </p:pic>
      <p:pic>
        <p:nvPicPr>
          <p:cNvPr id="8" name="Hình ảnh 4" descr="Ảnh có chứa biểu đồ, văn bản, vòng tròn, hàng&#10;&#10;Nội dung do AI tạo ra có thể không chính xác.">
            <a:extLst>
              <a:ext uri="{FF2B5EF4-FFF2-40B4-BE49-F238E27FC236}">
                <a16:creationId xmlns:a16="http://schemas.microsoft.com/office/drawing/2014/main" id="{1DC9A8E4-FCBC-C504-A477-809FDE4EC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078" y="3938782"/>
            <a:ext cx="2572142" cy="21286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6">
                <a:extLst>
                  <a:ext uri="{FF2B5EF4-FFF2-40B4-BE49-F238E27FC236}">
                    <a16:creationId xmlns:a16="http://schemas.microsoft.com/office/drawing/2014/main" id="{7AABA261-6460-45BF-A0CC-E0C9904C31B2}"/>
                  </a:ext>
                </a:extLst>
              </p:cNvPr>
              <p:cNvSpPr txBox="1"/>
              <p:nvPr/>
            </p:nvSpPr>
            <p:spPr>
              <a:xfrm>
                <a:off x="537419" y="1435708"/>
                <a:ext cx="4415581" cy="281461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vi-VN" b="1">
                    <a:latin typeface="Arial"/>
                    <a:cs typeface="Arial"/>
                  </a:rPr>
                  <a:t>Khảo sát NMOS tại:</a:t>
                </a:r>
                <a:endParaRPr lang="vi-VN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  <a:cs typeface="Arial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  <a:cs typeface="Arial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  <a:cs typeface="Arial"/>
                      </a:rPr>
                      <m:t>𝑉</m:t>
                    </m:r>
                  </m:oMath>
                </a14:m>
                <a:endParaRPr lang="en-US">
                  <a:latin typeface="Arial"/>
                  <a:ea typeface="Cambria Math"/>
                  <a:cs typeface="Arial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=3.3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𝑉</m:t>
                    </m:r>
                  </m:oMath>
                </a14:m>
                <a:endParaRPr lang="en-US">
                  <a:latin typeface="Arial"/>
                  <a:cs typeface="Arial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𝑊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den>
                    </m:f>
                  </m:oMath>
                </a14:m>
                <a:endParaRPr lang="en-US" b="0" i="1">
                  <a:latin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rial"/>
                        </a:rPr>
                        <m:t>=13.5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=0.516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𝑉</m:t>
                      </m:r>
                    </m:oMath>
                  </m:oMathPara>
                </a14:m>
                <a:endParaRPr lang="en-US" b="0">
                  <a:latin typeface="Arial"/>
                  <a:ea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⟹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𝑜𝑥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𝑡h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≈115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∕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  <a:cs typeface="Aria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=0.046</m:t>
                      </m:r>
                    </m:oMath>
                  </m:oMathPara>
                </a14:m>
                <a:endParaRPr lang="en-US" b="0">
                  <a:latin typeface="Arial"/>
                  <a:ea typeface="Cambria Math" panose="02040503050406030204" pitchFamily="18" charset="0"/>
                  <a:cs typeface="Arial"/>
                </a:endParaRPr>
              </a:p>
              <a:p>
                <a:endParaRPr lang="en-US" sz="2000" b="0" baseline="-250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Hộp Văn bản 6">
                <a:extLst>
                  <a:ext uri="{FF2B5EF4-FFF2-40B4-BE49-F238E27FC236}">
                    <a16:creationId xmlns:a16="http://schemas.microsoft.com/office/drawing/2014/main" id="{7AABA261-6460-45BF-A0CC-E0C9904C3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19" y="1435708"/>
                <a:ext cx="4415581" cy="2814617"/>
              </a:xfrm>
              <a:prstGeom prst="rect">
                <a:avLst/>
              </a:prstGeom>
              <a:blipFill>
                <a:blip r:embed="rId4"/>
                <a:stretch>
                  <a:fillRect l="-828" t="-130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78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E19A-A304-9E82-CB0D-E3DA7DF7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8DA2D1-D3FD-40C7-BF59-70CD4C49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539605-A9D7-F2C8-1981-1F2C0987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ato"/>
                <a:ea typeface="Lato"/>
                <a:cs typeface="Lato"/>
              </a:rPr>
              <a:t>3. Thiết kế các khối và khảo sát PDK</a:t>
            </a:r>
            <a:endParaRPr lang="en-US"/>
          </a:p>
        </p:txBody>
      </p:sp>
      <p:sp>
        <p:nvSpPr>
          <p:cNvPr id="5" name="Hộp Văn bản 6">
            <a:extLst>
              <a:ext uri="{FF2B5EF4-FFF2-40B4-BE49-F238E27FC236}">
                <a16:creationId xmlns:a16="http://schemas.microsoft.com/office/drawing/2014/main" id="{01EBFBD9-29E5-8AF8-9841-BD3DF4DA905F}"/>
              </a:ext>
            </a:extLst>
          </p:cNvPr>
          <p:cNvSpPr txBox="1"/>
          <p:nvPr/>
        </p:nvSpPr>
        <p:spPr>
          <a:xfrm>
            <a:off x="16222" y="873294"/>
            <a:ext cx="249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err="1"/>
              <a:t>Mạch</a:t>
            </a:r>
            <a:r>
              <a:rPr lang="en-US" b="1"/>
              <a:t> op amp 2 </a:t>
            </a:r>
            <a:r>
              <a:rPr lang="en-US" b="1" err="1"/>
              <a:t>tầng</a:t>
            </a:r>
            <a:endParaRPr lang="en-US" b="1"/>
          </a:p>
        </p:txBody>
      </p:sp>
      <p:sp>
        <p:nvSpPr>
          <p:cNvPr id="6" name="Hộp Văn bản 7">
            <a:extLst>
              <a:ext uri="{FF2B5EF4-FFF2-40B4-BE49-F238E27FC236}">
                <a16:creationId xmlns:a16="http://schemas.microsoft.com/office/drawing/2014/main" id="{37C3423B-8915-CECC-CA47-BB996F592BFC}"/>
              </a:ext>
            </a:extLst>
          </p:cNvPr>
          <p:cNvSpPr txBox="1"/>
          <p:nvPr/>
        </p:nvSpPr>
        <p:spPr>
          <a:xfrm>
            <a:off x="381040" y="1199826"/>
            <a:ext cx="2956643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err="1"/>
              <a:t>Tầng</a:t>
            </a:r>
            <a:r>
              <a:rPr lang="en-US"/>
              <a:t> 1: </a:t>
            </a:r>
            <a:r>
              <a:rPr lang="en-US" err="1"/>
              <a:t>Khuếch</a:t>
            </a:r>
            <a:r>
              <a:rPr lang="en-US"/>
              <a:t> </a:t>
            </a:r>
            <a:r>
              <a:rPr lang="en-US" err="1"/>
              <a:t>đại</a:t>
            </a:r>
            <a:r>
              <a:rPr lang="en-US"/>
              <a:t> vi </a:t>
            </a:r>
            <a:r>
              <a:rPr lang="en-US" err="1"/>
              <a:t>sai</a:t>
            </a:r>
            <a:endParaRPr lang="en-US"/>
          </a:p>
          <a:p>
            <a:r>
              <a:rPr lang="en-US" err="1"/>
              <a:t>Tầng</a:t>
            </a:r>
            <a:r>
              <a:rPr lang="en-US"/>
              <a:t> 2: Khuếch </a:t>
            </a:r>
            <a:r>
              <a:rPr lang="en-US" err="1"/>
              <a:t>đại</a:t>
            </a:r>
            <a:r>
              <a:rPr lang="en-US"/>
              <a:t> </a:t>
            </a:r>
            <a:r>
              <a:rPr lang="en-US" err="1"/>
              <a:t>công</a:t>
            </a:r>
            <a:r>
              <a:rPr lang="en-US"/>
              <a:t> </a:t>
            </a:r>
            <a:r>
              <a:rPr lang="en-US" err="1"/>
              <a:t>suất</a:t>
            </a:r>
            <a:r>
              <a:rPr lang="en-US"/>
              <a:t>·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Hộp Văn bản 8">
            <a:extLst>
              <a:ext uri="{FF2B5EF4-FFF2-40B4-BE49-F238E27FC236}">
                <a16:creationId xmlns:a16="http://schemas.microsoft.com/office/drawing/2014/main" id="{B6CFA754-A66B-341E-D36E-315DBD2E09CD}"/>
              </a:ext>
            </a:extLst>
          </p:cNvPr>
          <p:cNvSpPr txBox="1"/>
          <p:nvPr/>
        </p:nvSpPr>
        <p:spPr>
          <a:xfrm>
            <a:off x="16222" y="1909039"/>
            <a:ext cx="315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/>
              <a:t>Các </a:t>
            </a:r>
            <a:r>
              <a:rPr lang="en-US" b="1" err="1"/>
              <a:t>thành</a:t>
            </a:r>
            <a:r>
              <a:rPr lang="en-US" b="1"/>
              <a:t> </a:t>
            </a:r>
            <a:r>
              <a:rPr lang="en-US" b="1" err="1"/>
              <a:t>phần</a:t>
            </a:r>
            <a:r>
              <a:rPr lang="en-US" b="1"/>
              <a:t> </a:t>
            </a:r>
            <a:r>
              <a:rPr lang="en-US" b="1" err="1"/>
              <a:t>trong</a:t>
            </a:r>
            <a:r>
              <a:rPr lang="en-US" b="1"/>
              <a:t> </a:t>
            </a:r>
            <a:r>
              <a:rPr lang="en-US" b="1" err="1"/>
              <a:t>mạch</a:t>
            </a:r>
            <a:endParaRPr lang="vi-VN" b="1"/>
          </a:p>
        </p:txBody>
      </p:sp>
      <p:sp>
        <p:nvSpPr>
          <p:cNvPr id="11" name="Hộp Văn bản 4">
            <a:extLst>
              <a:ext uri="{FF2B5EF4-FFF2-40B4-BE49-F238E27FC236}">
                <a16:creationId xmlns:a16="http://schemas.microsoft.com/office/drawing/2014/main" id="{B3A3548F-6E21-95DC-9DE8-2B1897E7B410}"/>
              </a:ext>
            </a:extLst>
          </p:cNvPr>
          <p:cNvSpPr txBox="1"/>
          <p:nvPr/>
        </p:nvSpPr>
        <p:spPr>
          <a:xfrm>
            <a:off x="5737515" y="5799720"/>
            <a:ext cx="177497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 b="1" i="1" err="1">
                <a:latin typeface="Calibri"/>
                <a:ea typeface="Calibri"/>
                <a:cs typeface="Calibri"/>
              </a:rPr>
              <a:t>Hình</a:t>
            </a:r>
            <a:r>
              <a:rPr lang="en-US" sz="1400" b="1" i="1">
                <a:latin typeface="Calibri"/>
                <a:ea typeface="Calibri"/>
                <a:cs typeface="Calibri"/>
              </a:rPr>
              <a:t> 2: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Mạch</a:t>
            </a:r>
            <a:r>
              <a:rPr lang="en-US" sz="1400" b="1" i="1">
                <a:latin typeface="Calibri"/>
                <a:ea typeface="Calibri"/>
                <a:cs typeface="Calibri"/>
              </a:rPr>
              <a:t>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thiết</a:t>
            </a:r>
            <a:r>
              <a:rPr lang="en-US" sz="1400" b="1" i="1">
                <a:latin typeface="Calibri"/>
                <a:ea typeface="Calibri"/>
                <a:cs typeface="Calibri"/>
              </a:rPr>
              <a:t>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kế</a:t>
            </a:r>
            <a:endParaRPr lang="en-US" sz="1400" b="1" i="1">
              <a:latin typeface="Calibri"/>
              <a:ea typeface="Calibri"/>
              <a:cs typeface="Calibri"/>
            </a:endParaRPr>
          </a:p>
        </p:txBody>
      </p:sp>
      <p:sp>
        <p:nvSpPr>
          <p:cNvPr id="12" name="Tam giác Cân 10">
            <a:extLst>
              <a:ext uri="{FF2B5EF4-FFF2-40B4-BE49-F238E27FC236}">
                <a16:creationId xmlns:a16="http://schemas.microsoft.com/office/drawing/2014/main" id="{4029BB58-745C-0595-0F17-D8230772679A}"/>
              </a:ext>
            </a:extLst>
          </p:cNvPr>
          <p:cNvSpPr/>
          <p:nvPr/>
        </p:nvSpPr>
        <p:spPr>
          <a:xfrm rot="5400000">
            <a:off x="5220654" y="1143402"/>
            <a:ext cx="1076073" cy="1106834"/>
          </a:xfrm>
          <a:prstGeom prst="triangl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latin typeface="Arial"/>
                <a:cs typeface="Arial"/>
              </a:rPr>
              <a:t>DD</a:t>
            </a:r>
            <a:endParaRPr lang="vi-VN"/>
          </a:p>
        </p:txBody>
      </p:sp>
      <p:sp>
        <p:nvSpPr>
          <p:cNvPr id="13" name="Tam giác Cân 11">
            <a:extLst>
              <a:ext uri="{FF2B5EF4-FFF2-40B4-BE49-F238E27FC236}">
                <a16:creationId xmlns:a16="http://schemas.microsoft.com/office/drawing/2014/main" id="{0BAD6503-DB94-5F31-86CB-377229FFCEA0}"/>
              </a:ext>
            </a:extLst>
          </p:cNvPr>
          <p:cNvSpPr/>
          <p:nvPr/>
        </p:nvSpPr>
        <p:spPr>
          <a:xfrm rot="5400000">
            <a:off x="6918345" y="1160211"/>
            <a:ext cx="1087278" cy="1106834"/>
          </a:xfrm>
          <a:prstGeom prst="triangle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ộp Văn bản 12">
            <a:extLst>
              <a:ext uri="{FF2B5EF4-FFF2-40B4-BE49-F238E27FC236}">
                <a16:creationId xmlns:a16="http://schemas.microsoft.com/office/drawing/2014/main" id="{8AE861AF-6B25-FB4D-DEC1-620A2D93551D}"/>
              </a:ext>
            </a:extLst>
          </p:cNvPr>
          <p:cNvSpPr txBox="1"/>
          <p:nvPr/>
        </p:nvSpPr>
        <p:spPr>
          <a:xfrm>
            <a:off x="5114234" y="1488023"/>
            <a:ext cx="9135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200" b="1">
                <a:latin typeface="Arial"/>
                <a:cs typeface="Arial"/>
              </a:rPr>
              <a:t>Khuếch đại vi sai</a:t>
            </a:r>
            <a:endParaRPr lang="vi-VN"/>
          </a:p>
        </p:txBody>
      </p:sp>
      <p:sp>
        <p:nvSpPr>
          <p:cNvPr id="15" name="Hộp Văn bản 13">
            <a:extLst>
              <a:ext uri="{FF2B5EF4-FFF2-40B4-BE49-F238E27FC236}">
                <a16:creationId xmlns:a16="http://schemas.microsoft.com/office/drawing/2014/main" id="{E0D422A0-E18F-638F-D758-E68D1A3AA0BD}"/>
              </a:ext>
            </a:extLst>
          </p:cNvPr>
          <p:cNvSpPr txBox="1"/>
          <p:nvPr/>
        </p:nvSpPr>
        <p:spPr>
          <a:xfrm>
            <a:off x="6918380" y="1476817"/>
            <a:ext cx="7566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200" b="1">
                <a:latin typeface="Arial"/>
                <a:cs typeface="Arial"/>
              </a:rPr>
              <a:t>Khuếch đại CS</a:t>
            </a:r>
          </a:p>
        </p:txBody>
      </p:sp>
      <p:cxnSp>
        <p:nvCxnSpPr>
          <p:cNvPr id="16" name="Đường kết nối Mũi tên Thẳng 19">
            <a:extLst>
              <a:ext uri="{FF2B5EF4-FFF2-40B4-BE49-F238E27FC236}">
                <a16:creationId xmlns:a16="http://schemas.microsoft.com/office/drawing/2014/main" id="{65C8D9B9-9AAA-9AC5-BE77-0BD4BDE416C7}"/>
              </a:ext>
            </a:extLst>
          </p:cNvPr>
          <p:cNvCxnSpPr/>
          <p:nvPr/>
        </p:nvCxnSpPr>
        <p:spPr>
          <a:xfrm>
            <a:off x="4419686" y="1471118"/>
            <a:ext cx="779930" cy="67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20">
            <a:extLst>
              <a:ext uri="{FF2B5EF4-FFF2-40B4-BE49-F238E27FC236}">
                <a16:creationId xmlns:a16="http://schemas.microsoft.com/office/drawing/2014/main" id="{3DBBB03E-A803-32DC-867E-9A4B13A567CB}"/>
              </a:ext>
            </a:extLst>
          </p:cNvPr>
          <p:cNvCxnSpPr>
            <a:cxnSpLocks/>
          </p:cNvCxnSpPr>
          <p:nvPr/>
        </p:nvCxnSpPr>
        <p:spPr>
          <a:xfrm>
            <a:off x="4408481" y="1930557"/>
            <a:ext cx="791135" cy="672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21">
            <a:extLst>
              <a:ext uri="{FF2B5EF4-FFF2-40B4-BE49-F238E27FC236}">
                <a16:creationId xmlns:a16="http://schemas.microsoft.com/office/drawing/2014/main" id="{1945A1C8-F849-4AEE-3BC1-A2F561EBAF38}"/>
              </a:ext>
            </a:extLst>
          </p:cNvPr>
          <p:cNvCxnSpPr>
            <a:cxnSpLocks/>
          </p:cNvCxnSpPr>
          <p:nvPr/>
        </p:nvCxnSpPr>
        <p:spPr>
          <a:xfrm>
            <a:off x="6313478" y="1695236"/>
            <a:ext cx="623048" cy="67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22">
            <a:extLst>
              <a:ext uri="{FF2B5EF4-FFF2-40B4-BE49-F238E27FC236}">
                <a16:creationId xmlns:a16="http://schemas.microsoft.com/office/drawing/2014/main" id="{A7ED0F01-9CDE-43D4-6BFB-6E0EB566AE33}"/>
              </a:ext>
            </a:extLst>
          </p:cNvPr>
          <p:cNvCxnSpPr>
            <a:cxnSpLocks/>
          </p:cNvCxnSpPr>
          <p:nvPr/>
        </p:nvCxnSpPr>
        <p:spPr>
          <a:xfrm>
            <a:off x="8016772" y="1706441"/>
            <a:ext cx="623048" cy="6721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Hộp Văn bản 23">
            <a:extLst>
              <a:ext uri="{FF2B5EF4-FFF2-40B4-BE49-F238E27FC236}">
                <a16:creationId xmlns:a16="http://schemas.microsoft.com/office/drawing/2014/main" id="{86692D5E-F53C-BADA-75CA-3F7E22AFB635}"/>
              </a:ext>
            </a:extLst>
          </p:cNvPr>
          <p:cNvSpPr txBox="1"/>
          <p:nvPr/>
        </p:nvSpPr>
        <p:spPr>
          <a:xfrm>
            <a:off x="4382294" y="1173799"/>
            <a:ext cx="77709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1600">
                <a:latin typeface="Arial"/>
                <a:cs typeface="Arial"/>
              </a:rPr>
              <a:t>Vin+</a:t>
            </a:r>
            <a:endParaRPr lang="vi-VN" sz="1600"/>
          </a:p>
        </p:txBody>
      </p:sp>
      <p:sp>
        <p:nvSpPr>
          <p:cNvPr id="21" name="Hộp Văn bản 24">
            <a:extLst>
              <a:ext uri="{FF2B5EF4-FFF2-40B4-BE49-F238E27FC236}">
                <a16:creationId xmlns:a16="http://schemas.microsoft.com/office/drawing/2014/main" id="{4228ED74-7CDE-8930-1760-773D37EC5784}"/>
              </a:ext>
            </a:extLst>
          </p:cNvPr>
          <p:cNvSpPr txBox="1"/>
          <p:nvPr/>
        </p:nvSpPr>
        <p:spPr>
          <a:xfrm>
            <a:off x="4382293" y="1644446"/>
            <a:ext cx="77709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1600">
                <a:latin typeface="Arial"/>
                <a:cs typeface="Arial"/>
              </a:rPr>
              <a:t>Vin-</a:t>
            </a:r>
            <a:endParaRPr lang="vi-VN" sz="1600"/>
          </a:p>
        </p:txBody>
      </p:sp>
      <p:sp>
        <p:nvSpPr>
          <p:cNvPr id="22" name="Hộp Văn bản 25">
            <a:extLst>
              <a:ext uri="{FF2B5EF4-FFF2-40B4-BE49-F238E27FC236}">
                <a16:creationId xmlns:a16="http://schemas.microsoft.com/office/drawing/2014/main" id="{4130269C-8428-C063-7B8E-E2A259E429DF}"/>
              </a:ext>
            </a:extLst>
          </p:cNvPr>
          <p:cNvSpPr txBox="1"/>
          <p:nvPr/>
        </p:nvSpPr>
        <p:spPr>
          <a:xfrm>
            <a:off x="8136264" y="1431533"/>
            <a:ext cx="77709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vi-VN" sz="1600">
                <a:latin typeface="Arial"/>
                <a:cs typeface="Arial"/>
              </a:rPr>
              <a:t>Vout</a:t>
            </a:r>
            <a:endParaRPr lang="vi-VN" sz="1600"/>
          </a:p>
        </p:txBody>
      </p:sp>
      <p:sp>
        <p:nvSpPr>
          <p:cNvPr id="23" name="Hộp Văn bản 3">
            <a:extLst>
              <a:ext uri="{FF2B5EF4-FFF2-40B4-BE49-F238E27FC236}">
                <a16:creationId xmlns:a16="http://schemas.microsoft.com/office/drawing/2014/main" id="{3B478A5C-AA91-7A41-9308-35E6B8C0E9A4}"/>
              </a:ext>
            </a:extLst>
          </p:cNvPr>
          <p:cNvSpPr txBox="1"/>
          <p:nvPr/>
        </p:nvSpPr>
        <p:spPr>
          <a:xfrm>
            <a:off x="4861499" y="2324233"/>
            <a:ext cx="3108030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 b="1" i="1" err="1">
                <a:latin typeface="Calibri"/>
                <a:ea typeface="Calibri"/>
                <a:cs typeface="Calibri"/>
              </a:rPr>
              <a:t>Hình</a:t>
            </a:r>
            <a:r>
              <a:rPr lang="en-US" sz="1400" b="1" i="1">
                <a:latin typeface="Calibri"/>
                <a:ea typeface="Calibri"/>
                <a:cs typeface="Calibri"/>
              </a:rPr>
              <a:t> 1: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Sơ</a:t>
            </a:r>
            <a:r>
              <a:rPr lang="en-US" sz="1400" b="1" i="1">
                <a:latin typeface="Calibri"/>
                <a:ea typeface="Calibri"/>
                <a:cs typeface="Calibri"/>
              </a:rPr>
              <a:t>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đồ</a:t>
            </a:r>
            <a:r>
              <a:rPr lang="en-US" sz="1400" b="1" i="1">
                <a:latin typeface="Calibri"/>
                <a:ea typeface="Calibri"/>
                <a:cs typeface="Calibri"/>
              </a:rPr>
              <a:t>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khối</a:t>
            </a:r>
            <a:r>
              <a:rPr lang="en-US" sz="1400" b="1" i="1">
                <a:latin typeface="Calibri"/>
                <a:ea typeface="Calibri"/>
                <a:cs typeface="Calibri"/>
              </a:rPr>
              <a:t>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mạch</a:t>
            </a:r>
            <a:r>
              <a:rPr lang="en-US" sz="1400" b="1" i="1">
                <a:latin typeface="Calibri"/>
                <a:ea typeface="Calibri"/>
                <a:cs typeface="Calibri"/>
              </a:rPr>
              <a:t> so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sánh</a:t>
            </a:r>
            <a:r>
              <a:rPr lang="en-US" sz="1400" b="1" i="1">
                <a:latin typeface="Calibri"/>
                <a:ea typeface="Calibri"/>
                <a:cs typeface="Calibri"/>
              </a:rPr>
              <a:t> 2 </a:t>
            </a:r>
            <a:r>
              <a:rPr lang="en-US" sz="1400" b="1" i="1" err="1">
                <a:latin typeface="Calibri"/>
                <a:ea typeface="Calibri"/>
                <a:cs typeface="Calibri"/>
              </a:rPr>
              <a:t>tầng</a:t>
            </a:r>
            <a:endParaRPr lang="en-US" sz="1400" b="1" i="1"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89D1C29-910D-3350-DFC5-3E9B8D5AD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062" y="3063782"/>
            <a:ext cx="3667969" cy="2762615"/>
          </a:xfrm>
          <a:prstGeom prst="rect">
            <a:avLst/>
          </a:prstGeom>
        </p:spPr>
      </p:pic>
      <p:sp>
        <p:nvSpPr>
          <p:cNvPr id="28" name="object 8">
            <a:extLst>
              <a:ext uri="{FF2B5EF4-FFF2-40B4-BE49-F238E27FC236}">
                <a16:creationId xmlns:a16="http://schemas.microsoft.com/office/drawing/2014/main" id="{99FB71F1-473D-26E8-413E-97D7E7238D73}"/>
              </a:ext>
            </a:extLst>
          </p:cNvPr>
          <p:cNvSpPr txBox="1"/>
          <p:nvPr/>
        </p:nvSpPr>
        <p:spPr>
          <a:xfrm>
            <a:off x="7335493" y="2761251"/>
            <a:ext cx="7918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>
                <a:solidFill>
                  <a:srgbClr val="00AF50"/>
                </a:solidFill>
                <a:latin typeface="Lato"/>
                <a:cs typeface="Lato"/>
              </a:rPr>
              <a:t>Tầng</a:t>
            </a:r>
            <a:r>
              <a:rPr sz="2000" b="1" spc="-25">
                <a:solidFill>
                  <a:srgbClr val="00AF50"/>
                </a:solidFill>
                <a:latin typeface="Lato"/>
                <a:cs typeface="Lato"/>
              </a:rPr>
              <a:t> </a:t>
            </a:r>
            <a:r>
              <a:rPr lang="en-US" sz="2000" b="1" spc="-50">
                <a:solidFill>
                  <a:srgbClr val="00AF50"/>
                </a:solidFill>
                <a:latin typeface="Lato"/>
                <a:cs typeface="Lato"/>
              </a:rPr>
              <a:t>2</a:t>
            </a:r>
            <a:endParaRPr sz="2000">
              <a:latin typeface="Lato"/>
              <a:cs typeface="Lato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751D7A23-7F96-6856-15A3-E55AB51ABEFF}"/>
              </a:ext>
            </a:extLst>
          </p:cNvPr>
          <p:cNvSpPr txBox="1"/>
          <p:nvPr/>
        </p:nvSpPr>
        <p:spPr>
          <a:xfrm>
            <a:off x="5314798" y="2759189"/>
            <a:ext cx="792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>
                <a:solidFill>
                  <a:srgbClr val="FF0000"/>
                </a:solidFill>
                <a:latin typeface="Lato"/>
                <a:cs typeface="Lato"/>
              </a:rPr>
              <a:t>Tầng</a:t>
            </a:r>
            <a:r>
              <a:rPr sz="2000" b="1" spc="-25">
                <a:solidFill>
                  <a:srgbClr val="FF0000"/>
                </a:solidFill>
                <a:latin typeface="Lato"/>
                <a:cs typeface="Lato"/>
              </a:rPr>
              <a:t> </a:t>
            </a:r>
            <a:r>
              <a:rPr lang="en-US" sz="2000" b="1" spc="-50">
                <a:solidFill>
                  <a:srgbClr val="FF0000"/>
                </a:solidFill>
                <a:latin typeface="Lato"/>
                <a:cs typeface="Lato"/>
              </a:rPr>
              <a:t>1</a:t>
            </a:r>
            <a:endParaRPr sz="2000">
              <a:latin typeface="Lato"/>
              <a:cs typeface="Lato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DCFFC92-62B8-77E8-8290-C3463D141E24}"/>
              </a:ext>
            </a:extLst>
          </p:cNvPr>
          <p:cNvSpPr/>
          <p:nvPr/>
        </p:nvSpPr>
        <p:spPr>
          <a:xfrm>
            <a:off x="5711038" y="3165159"/>
            <a:ext cx="1417550" cy="253405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96AD0AE-0B1B-145F-FF22-88FDA39B986B}"/>
              </a:ext>
            </a:extLst>
          </p:cNvPr>
          <p:cNvSpPr/>
          <p:nvPr/>
        </p:nvSpPr>
        <p:spPr>
          <a:xfrm>
            <a:off x="7296694" y="3138772"/>
            <a:ext cx="1063535" cy="2534059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46E6C5DA-BDA9-5B57-9281-84D9B2325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1901"/>
              </p:ext>
            </p:extLst>
          </p:nvPr>
        </p:nvGraphicFramePr>
        <p:xfrm>
          <a:off x="253499" y="2341253"/>
          <a:ext cx="4166186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626">
                  <a:extLst>
                    <a:ext uri="{9D8B030D-6E8A-4147-A177-3AD203B41FA5}">
                      <a16:colId xmlns:a16="http://schemas.microsoft.com/office/drawing/2014/main" val="2676408924"/>
                    </a:ext>
                  </a:extLst>
                </a:gridCol>
                <a:gridCol w="3038560">
                  <a:extLst>
                    <a:ext uri="{9D8B030D-6E8A-4147-A177-3AD203B41FA5}">
                      <a16:colId xmlns:a16="http://schemas.microsoft.com/office/drawing/2014/main" val="2800736291"/>
                    </a:ext>
                  </a:extLst>
                </a:gridCol>
              </a:tblGrid>
              <a:tr h="31142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MOSFETs</a:t>
                      </a:r>
                      <a:endParaRPr lang="vi-VN" b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Vai </a:t>
                      </a:r>
                      <a:r>
                        <a:rPr lang="en-US" b="1" err="1"/>
                        <a:t>trò</a:t>
                      </a:r>
                      <a:endParaRPr lang="vi-VN" b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982304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r>
                        <a:rPr lang="en-US"/>
                        <a:t>M1, M2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Cặp</a:t>
                      </a:r>
                      <a:r>
                        <a:rPr lang="en-US"/>
                        <a:t> MOSFET vi </a:t>
                      </a:r>
                      <a:r>
                        <a:rPr lang="en-US" err="1"/>
                        <a:t>sai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đầu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vào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199897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r>
                        <a:rPr lang="en-US"/>
                        <a:t>M3, M4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Active current mirror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87256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r>
                        <a:rPr lang="en-US"/>
                        <a:t>M5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Tải</a:t>
                      </a:r>
                      <a:r>
                        <a:rPr lang="en-US"/>
                        <a:t> current source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753754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r>
                        <a:rPr lang="en-US"/>
                        <a:t>M6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MOSFET </a:t>
                      </a:r>
                      <a:r>
                        <a:rPr lang="en-US" err="1"/>
                        <a:t>mắc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kiểu</a:t>
                      </a:r>
                      <a:r>
                        <a:rPr lang="en-US"/>
                        <a:t> S </a:t>
                      </a:r>
                      <a:r>
                        <a:rPr lang="en-US" err="1"/>
                        <a:t>chung</a:t>
                      </a:r>
                      <a:r>
                        <a:rPr lang="en-US"/>
                        <a:t> 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915220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r>
                        <a:rPr lang="en-US"/>
                        <a:t>M7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Tải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nguồn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dòng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20707"/>
                  </a:ext>
                </a:extLst>
              </a:tr>
            </a:tbl>
          </a:graphicData>
        </a:graphic>
      </p:graphicFrame>
      <p:graphicFrame>
        <p:nvGraphicFramePr>
          <p:cNvPr id="8" name="Bảng 7">
            <a:extLst>
              <a:ext uri="{FF2B5EF4-FFF2-40B4-BE49-F238E27FC236}">
                <a16:creationId xmlns:a16="http://schemas.microsoft.com/office/drawing/2014/main" id="{57FE303B-04CE-54EF-5425-FEAA6A6FE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239206"/>
              </p:ext>
            </p:extLst>
          </p:nvPr>
        </p:nvGraphicFramePr>
        <p:xfrm>
          <a:off x="253498" y="4633193"/>
          <a:ext cx="416618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0077">
                  <a:extLst>
                    <a:ext uri="{9D8B030D-6E8A-4147-A177-3AD203B41FA5}">
                      <a16:colId xmlns:a16="http://schemas.microsoft.com/office/drawing/2014/main" val="1407766421"/>
                    </a:ext>
                  </a:extLst>
                </a:gridCol>
                <a:gridCol w="2486108">
                  <a:extLst>
                    <a:ext uri="{9D8B030D-6E8A-4147-A177-3AD203B41FA5}">
                      <a16:colId xmlns:a16="http://schemas.microsoft.com/office/drawing/2014/main" val="3974545278"/>
                    </a:ext>
                  </a:extLst>
                </a:gridCol>
              </a:tblGrid>
              <a:tr h="346444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Linh </a:t>
                      </a:r>
                      <a:r>
                        <a:rPr lang="en-US" b="1" err="1"/>
                        <a:t>kiện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khác</a:t>
                      </a:r>
                      <a:endParaRPr lang="vi-VN" b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Vai </a:t>
                      </a:r>
                      <a:r>
                        <a:rPr lang="en-US" b="1" err="1"/>
                        <a:t>trò</a:t>
                      </a:r>
                      <a:endParaRPr lang="vi-VN" b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6769"/>
                  </a:ext>
                </a:extLst>
              </a:tr>
              <a:tr h="346444">
                <a:tc>
                  <a:txBody>
                    <a:bodyPr/>
                    <a:lstStyle/>
                    <a:p>
                      <a:r>
                        <a:rPr lang="en-US"/>
                        <a:t>Cc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Tụ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bù</a:t>
                      </a:r>
                      <a:r>
                        <a:rPr lang="en-US"/>
                        <a:t> Miller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332046"/>
                  </a:ext>
                </a:extLst>
              </a:tr>
              <a:tr h="346444">
                <a:tc>
                  <a:txBody>
                    <a:bodyPr/>
                    <a:lstStyle/>
                    <a:p>
                      <a:r>
                        <a:rPr lang="en-US"/>
                        <a:t>CL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Tụ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tải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506380"/>
                  </a:ext>
                </a:extLst>
              </a:tr>
              <a:tr h="346444">
                <a:tc>
                  <a:txBody>
                    <a:bodyPr/>
                    <a:lstStyle/>
                    <a:p>
                      <a:r>
                        <a:rPr lang="en-US"/>
                        <a:t>Rz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Trở</a:t>
                      </a:r>
                      <a:r>
                        <a:rPr lang="en-US"/>
                        <a:t> nulling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34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0441BA3-1E12-D3E2-6BD8-611058F6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3B142E63-9384-70C0-286F-65C490B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mạch</a:t>
            </a:r>
            <a:endParaRPr lang="vi-VN"/>
          </a:p>
        </p:txBody>
      </p:sp>
      <p:grpSp>
        <p:nvGrpSpPr>
          <p:cNvPr id="7" name="Nhóm 6">
            <a:extLst>
              <a:ext uri="{FF2B5EF4-FFF2-40B4-BE49-F238E27FC236}">
                <a16:creationId xmlns:a16="http://schemas.microsoft.com/office/drawing/2014/main" id="{139084C6-A545-3DCB-618F-B09B8A1AE900}"/>
              </a:ext>
            </a:extLst>
          </p:cNvPr>
          <p:cNvGrpSpPr/>
          <p:nvPr/>
        </p:nvGrpSpPr>
        <p:grpSpPr>
          <a:xfrm>
            <a:off x="5389749" y="2867024"/>
            <a:ext cx="3754251" cy="3026831"/>
            <a:chOff x="4817591" y="1665400"/>
            <a:chExt cx="4251764" cy="3776416"/>
          </a:xfrm>
        </p:grpSpPr>
        <p:pic>
          <p:nvPicPr>
            <p:cNvPr id="8" name="Hình ảnh 7">
              <a:extLst>
                <a:ext uri="{FF2B5EF4-FFF2-40B4-BE49-F238E27FC236}">
                  <a16:creationId xmlns:a16="http://schemas.microsoft.com/office/drawing/2014/main" id="{79D1FC17-8EAA-8F43-E8FC-9EF076B65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3575" y="1665403"/>
              <a:ext cx="4139796" cy="3771671"/>
            </a:xfrm>
            <a:prstGeom prst="rect">
              <a:avLst/>
            </a:prstGeom>
          </p:spPr>
        </p:pic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4DD359D1-8D28-37F0-1E7C-C6514F923176}"/>
                </a:ext>
              </a:extLst>
            </p:cNvPr>
            <p:cNvSpPr txBox="1"/>
            <p:nvPr/>
          </p:nvSpPr>
          <p:spPr>
            <a:xfrm>
              <a:off x="6176867" y="3551238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M1</a:t>
              </a: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6050FD5B-CE31-1C3D-5E5B-CA19E67EE768}"/>
                </a:ext>
              </a:extLst>
            </p:cNvPr>
            <p:cNvSpPr txBox="1"/>
            <p:nvPr/>
          </p:nvSpPr>
          <p:spPr>
            <a:xfrm>
              <a:off x="7109929" y="3551237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M2</a:t>
              </a:r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B8C1E58F-F19F-F601-847E-182406122748}"/>
                </a:ext>
              </a:extLst>
            </p:cNvPr>
            <p:cNvSpPr txBox="1"/>
            <p:nvPr/>
          </p:nvSpPr>
          <p:spPr>
            <a:xfrm>
              <a:off x="5859626" y="2277686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M3</a:t>
              </a: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FAC6892F-BB23-B94E-1EDE-E2798DDB2F59}"/>
                </a:ext>
              </a:extLst>
            </p:cNvPr>
            <p:cNvSpPr txBox="1"/>
            <p:nvPr/>
          </p:nvSpPr>
          <p:spPr>
            <a:xfrm>
              <a:off x="7557797" y="2277685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M4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A408ADBA-FD9B-FA5B-6A9E-88AE25CAE9DC}"/>
                </a:ext>
              </a:extLst>
            </p:cNvPr>
            <p:cNvSpPr txBox="1"/>
            <p:nvPr/>
          </p:nvSpPr>
          <p:spPr>
            <a:xfrm>
              <a:off x="6820730" y="4753407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M5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2C2AC1-F6A1-DE66-01E5-442F0737A489}"/>
                </a:ext>
              </a:extLst>
            </p:cNvPr>
            <p:cNvSpPr txBox="1"/>
            <p:nvPr/>
          </p:nvSpPr>
          <p:spPr>
            <a:xfrm>
              <a:off x="4817591" y="4753406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M0</a:t>
              </a: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0162990C-D97E-B18C-6829-308B885D8ABF}"/>
                </a:ext>
              </a:extLst>
            </p:cNvPr>
            <p:cNvSpPr txBox="1"/>
            <p:nvPr/>
          </p:nvSpPr>
          <p:spPr>
            <a:xfrm>
              <a:off x="8607543" y="2728664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M6</a:t>
              </a:r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192EA5A0-1F89-DBBF-8C76-86074A1C29EE}"/>
                </a:ext>
              </a:extLst>
            </p:cNvPr>
            <p:cNvSpPr txBox="1"/>
            <p:nvPr/>
          </p:nvSpPr>
          <p:spPr>
            <a:xfrm>
              <a:off x="8621487" y="4753405"/>
              <a:ext cx="447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M7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2">
                  <a:extLst>
                    <a:ext uri="{FF2B5EF4-FFF2-40B4-BE49-F238E27FC236}">
                      <a16:creationId xmlns:a16="http://schemas.microsoft.com/office/drawing/2014/main" id="{77FC7673-6B64-372F-C8A8-8E06BA6EDAD4}"/>
                    </a:ext>
                  </a:extLst>
                </p:cNvPr>
                <p:cNvSpPr txBox="1"/>
                <p:nvPr/>
              </p:nvSpPr>
              <p:spPr>
                <a:xfrm>
                  <a:off x="7686930" y="3375804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7" name="TextBox 12">
                  <a:extLst>
                    <a:ext uri="{FF2B5EF4-FFF2-40B4-BE49-F238E27FC236}">
                      <a16:creationId xmlns:a16="http://schemas.microsoft.com/office/drawing/2014/main" id="{77FC7673-6B64-372F-C8A8-8E06BA6ED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6930" y="3375804"/>
                  <a:ext cx="600152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3514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3">
                  <a:extLst>
                    <a:ext uri="{FF2B5EF4-FFF2-40B4-BE49-F238E27FC236}">
                      <a16:creationId xmlns:a16="http://schemas.microsoft.com/office/drawing/2014/main" id="{D19597A0-D48A-C56D-4B52-040A42B170F9}"/>
                    </a:ext>
                  </a:extLst>
                </p:cNvPr>
                <p:cNvSpPr txBox="1"/>
                <p:nvPr/>
              </p:nvSpPr>
              <p:spPr>
                <a:xfrm>
                  <a:off x="5450577" y="3357961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8" name="TextBox 13">
                  <a:extLst>
                    <a:ext uri="{FF2B5EF4-FFF2-40B4-BE49-F238E27FC236}">
                      <a16:creationId xmlns:a16="http://schemas.microsoft.com/office/drawing/2014/main" id="{D19597A0-D48A-C56D-4B52-040A42B170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0577" y="3357961"/>
                  <a:ext cx="600152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3889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5">
                  <a:extLst>
                    <a:ext uri="{FF2B5EF4-FFF2-40B4-BE49-F238E27FC236}">
                      <a16:creationId xmlns:a16="http://schemas.microsoft.com/office/drawing/2014/main" id="{FA8CA063-4F7C-C423-CAED-F4D8A19B6E10}"/>
                    </a:ext>
                  </a:extLst>
                </p:cNvPr>
                <p:cNvSpPr txBox="1"/>
                <p:nvPr/>
              </p:nvSpPr>
              <p:spPr>
                <a:xfrm>
                  <a:off x="6668446" y="1665400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𝑉𝐷𝐷</m:t>
                        </m:r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19" name="TextBox 15">
                  <a:extLst>
                    <a:ext uri="{FF2B5EF4-FFF2-40B4-BE49-F238E27FC236}">
                      <a16:creationId xmlns:a16="http://schemas.microsoft.com/office/drawing/2014/main" id="{FA8CA063-4F7C-C423-CAED-F4D8A19B6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446" y="1665400"/>
                  <a:ext cx="60015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8">
                  <a:extLst>
                    <a:ext uri="{FF2B5EF4-FFF2-40B4-BE49-F238E27FC236}">
                      <a16:creationId xmlns:a16="http://schemas.microsoft.com/office/drawing/2014/main" id="{52AB60C1-F60B-7A29-1E4D-1252FB3627AE}"/>
                    </a:ext>
                  </a:extLst>
                </p:cNvPr>
                <p:cNvSpPr txBox="1"/>
                <p:nvPr/>
              </p:nvSpPr>
              <p:spPr>
                <a:xfrm>
                  <a:off x="6624735" y="5164817"/>
                  <a:ext cx="60015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𝐺𝑁𝐷</m:t>
                        </m:r>
                      </m:oMath>
                    </m:oMathPara>
                  </a14:m>
                  <a:endParaRPr lang="en-US" sz="1200"/>
                </a:p>
              </p:txBody>
            </p:sp>
          </mc:Choice>
          <mc:Fallback xmlns="">
            <p:sp>
              <p:nvSpPr>
                <p:cNvPr id="20" name="TextBox 18">
                  <a:extLst>
                    <a:ext uri="{FF2B5EF4-FFF2-40B4-BE49-F238E27FC236}">
                      <a16:creationId xmlns:a16="http://schemas.microsoft.com/office/drawing/2014/main" id="{52AB60C1-F60B-7A29-1E4D-1252FB362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4735" y="5164817"/>
                  <a:ext cx="600152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Hình ảnh 21">
            <a:extLst>
              <a:ext uri="{FF2B5EF4-FFF2-40B4-BE49-F238E27FC236}">
                <a16:creationId xmlns:a16="http://schemas.microsoft.com/office/drawing/2014/main" id="{F9325D8F-8FA7-A6E6-408D-004607F97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397" y="1125121"/>
            <a:ext cx="3549170" cy="1056452"/>
          </a:xfrm>
          <a:prstGeom prst="rect">
            <a:avLst/>
          </a:prstGeom>
        </p:spPr>
      </p:pic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D1D4E2D5-FECD-34F6-12C0-1F1F2E28EC2A}"/>
              </a:ext>
            </a:extLst>
          </p:cNvPr>
          <p:cNvSpPr txBox="1"/>
          <p:nvPr/>
        </p:nvSpPr>
        <p:spPr>
          <a:xfrm>
            <a:off x="6091561" y="2052735"/>
            <a:ext cx="3052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err="1"/>
              <a:t>Hình</a:t>
            </a:r>
            <a:r>
              <a:rPr lang="en-US" sz="1400" b="1" i="1"/>
              <a:t> 1: </a:t>
            </a:r>
            <a:r>
              <a:rPr lang="en-US" sz="1400" b="1" i="1" err="1"/>
              <a:t>Mô</a:t>
            </a:r>
            <a:r>
              <a:rPr lang="en-US" sz="1400" b="1" i="1"/>
              <a:t> </a:t>
            </a:r>
            <a:r>
              <a:rPr lang="en-US" sz="1400" b="1" i="1" err="1"/>
              <a:t>hình</a:t>
            </a:r>
            <a:r>
              <a:rPr lang="en-US" sz="1400" b="1" i="1"/>
              <a:t> </a:t>
            </a:r>
            <a:r>
              <a:rPr lang="en-US" sz="1400" b="1" i="1" err="1"/>
              <a:t>tín</a:t>
            </a:r>
            <a:r>
              <a:rPr lang="en-US" sz="1400" b="1" i="1"/>
              <a:t> </a:t>
            </a:r>
            <a:r>
              <a:rPr lang="en-US" sz="1400" b="1" i="1" err="1"/>
              <a:t>hiệu</a:t>
            </a:r>
            <a:r>
              <a:rPr lang="en-US" sz="1400" b="1" i="1"/>
              <a:t> </a:t>
            </a:r>
            <a:r>
              <a:rPr lang="en-US" sz="1400" b="1" i="1" err="1"/>
              <a:t>nhỏ</a:t>
            </a:r>
            <a:r>
              <a:rPr lang="en-US" sz="1400" b="1" i="1"/>
              <a:t> </a:t>
            </a:r>
            <a:r>
              <a:rPr lang="en-US" sz="1400" b="1" i="1" err="1"/>
              <a:t>của</a:t>
            </a:r>
            <a:r>
              <a:rPr lang="en-US" sz="1400" b="1" i="1"/>
              <a:t> </a:t>
            </a:r>
            <a:r>
              <a:rPr lang="en-US" sz="1400" b="1" i="1" err="1"/>
              <a:t>mạch</a:t>
            </a:r>
            <a:endParaRPr lang="vi-VN" sz="1400" b="1" i="1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8C12B6C-E69C-4237-E3A1-79730789B9FF}"/>
              </a:ext>
            </a:extLst>
          </p:cNvPr>
          <p:cNvSpPr txBox="1"/>
          <p:nvPr/>
        </p:nvSpPr>
        <p:spPr>
          <a:xfrm>
            <a:off x="5557597" y="5919234"/>
            <a:ext cx="29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err="1"/>
              <a:t>Hình</a:t>
            </a:r>
            <a:r>
              <a:rPr lang="en-US" sz="1400" b="1" i="1"/>
              <a:t> 2: </a:t>
            </a:r>
            <a:r>
              <a:rPr lang="en-US" sz="1400" b="1" i="1" err="1"/>
              <a:t>Cấu</a:t>
            </a:r>
            <a:r>
              <a:rPr lang="en-US" sz="1400" b="1" i="1"/>
              <a:t> </a:t>
            </a:r>
            <a:r>
              <a:rPr lang="en-US" sz="1400" b="1" i="1" err="1"/>
              <a:t>trúc</a:t>
            </a:r>
            <a:r>
              <a:rPr lang="en-US" sz="1400" b="1" i="1"/>
              <a:t> </a:t>
            </a:r>
            <a:r>
              <a:rPr lang="en-US" sz="1400" b="1" i="1" err="1"/>
              <a:t>mạch</a:t>
            </a:r>
            <a:r>
              <a:rPr lang="en-US" sz="1400" b="1" i="1"/>
              <a:t> Op-amp 2 </a:t>
            </a:r>
            <a:r>
              <a:rPr lang="en-US" sz="1400" b="1" i="1" err="1"/>
              <a:t>tầng</a:t>
            </a:r>
            <a:endParaRPr lang="vi-VN" sz="1400" b="1" i="1"/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42652148-E896-D1DB-AE42-44EC123FBE35}"/>
              </a:ext>
            </a:extLst>
          </p:cNvPr>
          <p:cNvSpPr txBox="1"/>
          <p:nvPr/>
        </p:nvSpPr>
        <p:spPr>
          <a:xfrm>
            <a:off x="16318" y="2410914"/>
            <a:ext cx="434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Các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endParaRPr lang="vi-V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Hộp Văn bản 25">
                <a:extLst>
                  <a:ext uri="{FF2B5EF4-FFF2-40B4-BE49-F238E27FC236}">
                    <a16:creationId xmlns:a16="http://schemas.microsoft.com/office/drawing/2014/main" id="{8ECBDD91-DA48-9ACC-E34D-4FFA297092A9}"/>
                  </a:ext>
                </a:extLst>
              </p:cNvPr>
              <p:cNvSpPr txBox="1"/>
              <p:nvPr/>
            </p:nvSpPr>
            <p:spPr>
              <a:xfrm>
                <a:off x="125995" y="3356435"/>
                <a:ext cx="1622239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II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II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26" name="Hộp Văn bản 25">
                <a:extLst>
                  <a:ext uri="{FF2B5EF4-FFF2-40B4-BE49-F238E27FC236}">
                    <a16:creationId xmlns:a16="http://schemas.microsoft.com/office/drawing/2014/main" id="{8ECBDD91-DA48-9ACC-E34D-4FFA29709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95" y="3356435"/>
                <a:ext cx="1622239" cy="5690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Hộp Văn bản 26">
                <a:extLst>
                  <a:ext uri="{FF2B5EF4-FFF2-40B4-BE49-F238E27FC236}">
                    <a16:creationId xmlns:a16="http://schemas.microsoft.com/office/drawing/2014/main" id="{45E20D88-4113-5FE5-AFBD-6500084446F2}"/>
                  </a:ext>
                </a:extLst>
              </p:cNvPr>
              <p:cNvSpPr txBox="1"/>
              <p:nvPr/>
            </p:nvSpPr>
            <p:spPr>
              <a:xfrm>
                <a:off x="1890782" y="3351499"/>
                <a:ext cx="1259960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gmII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II</m:t>
                          </m:r>
                        </m:den>
                      </m:f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7" name="Hộp Văn bản 26">
                <a:extLst>
                  <a:ext uri="{FF2B5EF4-FFF2-40B4-BE49-F238E27FC236}">
                    <a16:creationId xmlns:a16="http://schemas.microsoft.com/office/drawing/2014/main" id="{45E20D88-4113-5FE5-AFBD-650008444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82" y="3351499"/>
                <a:ext cx="1259960" cy="518540"/>
              </a:xfrm>
              <a:prstGeom prst="rect">
                <a:avLst/>
              </a:prstGeom>
              <a:blipFill>
                <a:blip r:embed="rId9"/>
                <a:stretch>
                  <a:fillRect b="-823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6E022805-49FD-95E5-01D9-146CDAFAB6F5}"/>
                  </a:ext>
                </a:extLst>
              </p:cNvPr>
              <p:cNvSpPr txBox="1"/>
              <p:nvPr/>
            </p:nvSpPr>
            <p:spPr>
              <a:xfrm>
                <a:off x="3299641" y="3361024"/>
                <a:ext cx="103554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6E022805-49FD-95E5-01D9-146CDAFA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641" y="3361024"/>
                <a:ext cx="1035540" cy="520399"/>
              </a:xfrm>
              <a:prstGeom prst="rect">
                <a:avLst/>
              </a:prstGeom>
              <a:blipFill>
                <a:blip r:embed="rId10"/>
                <a:stretch>
                  <a:fillRect b="-81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25FB3077-0E79-D8B9-A766-E2D18FE07D1F}"/>
                  </a:ext>
                </a:extLst>
              </p:cNvPr>
              <p:cNvSpPr txBox="1"/>
              <p:nvPr/>
            </p:nvSpPr>
            <p:spPr>
              <a:xfrm>
                <a:off x="88832" y="2768830"/>
                <a:ext cx="2055050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(1/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gmII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RZ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9" name="Hộp Văn bản 28">
                <a:extLst>
                  <a:ext uri="{FF2B5EF4-FFF2-40B4-BE49-F238E27FC236}">
                    <a16:creationId xmlns:a16="http://schemas.microsoft.com/office/drawing/2014/main" id="{25FB3077-0E79-D8B9-A766-E2D18FE07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2" y="2768830"/>
                <a:ext cx="2055050" cy="569580"/>
              </a:xfrm>
              <a:prstGeom prst="rect">
                <a:avLst/>
              </a:prstGeom>
              <a:blipFill>
                <a:blip r:embed="rId11"/>
                <a:stretch>
                  <a:fillRect r="-14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Hộp Văn bản 29">
                <a:extLst>
                  <a:ext uri="{FF2B5EF4-FFF2-40B4-BE49-F238E27FC236}">
                    <a16:creationId xmlns:a16="http://schemas.microsoft.com/office/drawing/2014/main" id="{0848188A-9DFA-7A3A-6335-C065FEF70E1F}"/>
                  </a:ext>
                </a:extLst>
              </p:cNvPr>
              <p:cNvSpPr txBox="1"/>
              <p:nvPr/>
            </p:nvSpPr>
            <p:spPr>
              <a:xfrm>
                <a:off x="81157" y="4018512"/>
                <a:ext cx="52440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err="1"/>
                  <a:t>Lựa</a:t>
                </a:r>
                <a:r>
                  <a:rPr lang="en-US"/>
                  <a:t> </a:t>
                </a:r>
                <a:r>
                  <a:rPr lang="en-US" err="1"/>
                  <a:t>chọn</a:t>
                </a:r>
                <a:r>
                  <a:rPr lang="en-US"/>
                  <a:t> </a:t>
                </a:r>
                <a:r>
                  <a:rPr lang="en-US" err="1"/>
                  <a:t>giá</a:t>
                </a:r>
                <a:r>
                  <a:rPr lang="en-US"/>
                  <a:t> </a:t>
                </a:r>
                <a:r>
                  <a:rPr lang="en-US" err="1"/>
                  <a:t>trị</a:t>
                </a:r>
                <a:r>
                  <a:rPr lang="en-US"/>
                  <a:t> </a:t>
                </a:r>
                <a:r>
                  <a:rPr lang="en-US" err="1"/>
                  <a:t>của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err="1"/>
                  <a:t>sao</a:t>
                </a:r>
                <a:r>
                  <a:rPr lang="en-US"/>
                  <a:t> </a:t>
                </a:r>
                <a:r>
                  <a:rPr lang="en-US" err="1"/>
                  <a:t>cho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err="1"/>
                  <a:t>triệt</a:t>
                </a:r>
                <a:r>
                  <a:rPr lang="en-US"/>
                  <a:t> </a:t>
                </a:r>
                <a:r>
                  <a:rPr lang="en-US" err="1"/>
                  <a:t>tiêu</a:t>
                </a:r>
                <a:r>
                  <a:rPr lang="en-US"/>
                  <a:t> </a:t>
                </a:r>
                <a:r>
                  <a:rPr lang="en-US" err="1"/>
                  <a:t>sự</a:t>
                </a:r>
                <a:r>
                  <a:rPr lang="en-US"/>
                  <a:t> </a:t>
                </a:r>
                <a:r>
                  <a:rPr lang="en-US" err="1"/>
                  <a:t>ảnh</a:t>
                </a:r>
                <a:r>
                  <a:rPr lang="en-US"/>
                  <a:t> </a:t>
                </a:r>
                <a:r>
                  <a:rPr lang="en-US" err="1"/>
                  <a:t>hưởng</a:t>
                </a:r>
                <a:r>
                  <a:rPr lang="en-US"/>
                  <a:t> </a:t>
                </a:r>
                <a:r>
                  <a:rPr lang="en-US" err="1"/>
                  <a:t>của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, </a:t>
                </a:r>
                <a:r>
                  <a:rPr lang="en-US" err="1"/>
                  <a:t>giúp</a:t>
                </a:r>
                <a:r>
                  <a:rPr lang="en-US"/>
                  <a:t> </a:t>
                </a:r>
                <a:r>
                  <a:rPr lang="en-US" err="1"/>
                  <a:t>làm</a:t>
                </a:r>
                <a:r>
                  <a:rPr lang="en-US"/>
                  <a:t> </a:t>
                </a:r>
                <a:r>
                  <a:rPr lang="en-US" err="1"/>
                  <a:t>tăng</a:t>
                </a:r>
                <a:r>
                  <a:rPr lang="en-US"/>
                  <a:t> PM </a:t>
                </a:r>
                <a:r>
                  <a:rPr lang="en-US" err="1"/>
                  <a:t>của</a:t>
                </a:r>
                <a:r>
                  <a:rPr lang="en-US"/>
                  <a:t> </a:t>
                </a:r>
                <a:r>
                  <a:rPr lang="en-US" err="1"/>
                  <a:t>hàm</a:t>
                </a:r>
                <a:r>
                  <a:rPr lang="en-US"/>
                  <a:t> </a:t>
                </a:r>
                <a:r>
                  <a:rPr lang="en-US" err="1"/>
                  <a:t>truyền</a:t>
                </a:r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30" name="Hộp Văn bản 29">
                <a:extLst>
                  <a:ext uri="{FF2B5EF4-FFF2-40B4-BE49-F238E27FC236}">
                    <a16:creationId xmlns:a16="http://schemas.microsoft.com/office/drawing/2014/main" id="{0848188A-9DFA-7A3A-6335-C065FEF7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7" y="4018512"/>
                <a:ext cx="5244002" cy="646331"/>
              </a:xfrm>
              <a:prstGeom prst="rect">
                <a:avLst/>
              </a:prstGeom>
              <a:blipFill>
                <a:blip r:embed="rId12"/>
                <a:stretch>
                  <a:fillRect l="-929" t="-4717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76197224-4AF9-BB38-40BA-BEF87673DE47}"/>
                  </a:ext>
                </a:extLst>
              </p:cNvPr>
              <p:cNvSpPr txBox="1"/>
              <p:nvPr/>
            </p:nvSpPr>
            <p:spPr>
              <a:xfrm>
                <a:off x="1099291" y="4648284"/>
                <a:ext cx="713336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vi-VN" baseline="-25000"/>
              </a:p>
            </p:txBody>
          </p:sp>
        </mc:Choice>
        <mc:Fallback xmlns="">
          <p:sp>
            <p:nvSpPr>
              <p:cNvPr id="31" name="Hộp Văn bản 30">
                <a:extLst>
                  <a:ext uri="{FF2B5EF4-FFF2-40B4-BE49-F238E27FC236}">
                    <a16:creationId xmlns:a16="http://schemas.microsoft.com/office/drawing/2014/main" id="{76197224-4AF9-BB38-40BA-BEF87673D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291" y="4648284"/>
                <a:ext cx="713336" cy="270652"/>
              </a:xfrm>
              <a:prstGeom prst="rect">
                <a:avLst/>
              </a:prstGeom>
              <a:blipFill>
                <a:blip r:embed="rId13"/>
                <a:stretch>
                  <a:fillRect l="-5128" r="-4274" b="-3181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Hộp Văn bản 31">
                <a:extLst>
                  <a:ext uri="{FF2B5EF4-FFF2-40B4-BE49-F238E27FC236}">
                    <a16:creationId xmlns:a16="http://schemas.microsoft.com/office/drawing/2014/main" id="{3D459E00-60A8-F33C-A65E-D39F8ED84DDD}"/>
                  </a:ext>
                </a:extLst>
              </p:cNvPr>
              <p:cNvSpPr txBox="1"/>
              <p:nvPr/>
            </p:nvSpPr>
            <p:spPr>
              <a:xfrm>
                <a:off x="670075" y="4902376"/>
                <a:ext cx="3084178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i="1" baseline="-2500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(1/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gmII</m:t>
                          </m:r>
                          <m: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RZ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vi-VN" i="1">
                              <a:latin typeface="Cambria Math" panose="02040503050406030204" pitchFamily="18" charset="0"/>
                            </a:rPr>
                            <m:t>gmII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vi-VN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i="1" baseline="-25000">
                              <a:latin typeface="Cambria Math" panose="02040503050406030204" pitchFamily="18" charset="0"/>
                            </a:rPr>
                            <m:t>II</m:t>
                          </m:r>
                        </m:den>
                      </m:f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2" name="Hộp Văn bản 31">
                <a:extLst>
                  <a:ext uri="{FF2B5EF4-FFF2-40B4-BE49-F238E27FC236}">
                    <a16:creationId xmlns:a16="http://schemas.microsoft.com/office/drawing/2014/main" id="{3D459E00-60A8-F33C-A65E-D39F8ED84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75" y="4902376"/>
                <a:ext cx="3084178" cy="5695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A360F247-D45F-2747-EA74-9C7EAF273230}"/>
                  </a:ext>
                </a:extLst>
              </p:cNvPr>
              <p:cNvSpPr txBox="1"/>
              <p:nvPr/>
            </p:nvSpPr>
            <p:spPr>
              <a:xfrm>
                <a:off x="742244" y="5522481"/>
                <a:ext cx="278505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</m:t>
                      </m:r>
                      <m:r>
                        <m:rPr>
                          <m:sty m:val="p"/>
                        </m:rPr>
                        <a:rPr lang="vi-VN" b="0" i="1" smtClean="0">
                          <a:latin typeface="Cambria Math" panose="02040503050406030204" pitchFamily="18" charset="0"/>
                        </a:rPr>
                        <m:t>Rz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vi-VN" b="0" i="1" baseline="-2500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m:rPr>
                                  <m:sty m:val="p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CII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vi-VN" b="0" i="1" baseline="-2500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vi-VN" b="0" i="1" baseline="-25000" smtClean="0">
                                  <a:latin typeface="Cambria Math" panose="02040503050406030204" pitchFamily="18" charset="0"/>
                                </a:rPr>
                                <m:t>mII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5" name="Hộp Văn bản 34">
                <a:extLst>
                  <a:ext uri="{FF2B5EF4-FFF2-40B4-BE49-F238E27FC236}">
                    <a16:creationId xmlns:a16="http://schemas.microsoft.com/office/drawing/2014/main" id="{A360F247-D45F-2747-EA74-9C7EAF273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44" y="5522481"/>
                <a:ext cx="2785057" cy="62235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17">
            <a:extLst>
              <a:ext uri="{FF2B5EF4-FFF2-40B4-BE49-F238E27FC236}">
                <a16:creationId xmlns:a16="http://schemas.microsoft.com/office/drawing/2014/main" id="{FA672941-4931-6B53-3999-3F60038F8040}"/>
              </a:ext>
            </a:extLst>
          </p:cNvPr>
          <p:cNvSpPr txBox="1"/>
          <p:nvPr/>
        </p:nvSpPr>
        <p:spPr>
          <a:xfrm>
            <a:off x="0" y="862893"/>
            <a:ext cx="766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err="1"/>
              <a:t>Cấu</a:t>
            </a:r>
            <a:r>
              <a:rPr lang="en-US" b="1"/>
              <a:t> </a:t>
            </a:r>
            <a:r>
              <a:rPr lang="en-US" b="1" err="1"/>
              <a:t>trúc</a:t>
            </a:r>
            <a:r>
              <a:rPr lang="en-US" b="1"/>
              <a:t> </a:t>
            </a:r>
            <a:r>
              <a:rPr lang="en-US" b="1" err="1"/>
              <a:t>được</a:t>
            </a:r>
            <a:r>
              <a:rPr lang="en-US" b="1"/>
              <a:t> </a:t>
            </a:r>
            <a:r>
              <a:rPr lang="en-US" b="1" err="1"/>
              <a:t>lựa</a:t>
            </a:r>
            <a:r>
              <a:rPr lang="en-US" b="1"/>
              <a:t> </a:t>
            </a:r>
            <a:r>
              <a:rPr lang="en-US" b="1" err="1"/>
              <a:t>chọn</a:t>
            </a:r>
            <a:r>
              <a:rPr lang="en-US" b="1"/>
              <a:t> </a:t>
            </a:r>
            <a:r>
              <a:rPr lang="en-US" b="1" err="1"/>
              <a:t>là</a:t>
            </a:r>
            <a:r>
              <a:rPr lang="en-US" b="1"/>
              <a:t> op-amp 2 </a:t>
            </a:r>
            <a:r>
              <a:rPr lang="en-US" b="1" err="1"/>
              <a:t>tầng</a:t>
            </a:r>
            <a:r>
              <a:rPr lang="en-US" b="1"/>
              <a:t>,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tụ</a:t>
            </a:r>
            <a:r>
              <a:rPr lang="en-US" b="1"/>
              <a:t> </a:t>
            </a:r>
            <a:r>
              <a:rPr lang="en-US" b="1" err="1"/>
              <a:t>bù</a:t>
            </a:r>
            <a:r>
              <a:rPr lang="en-US" b="1"/>
              <a:t> Miller </a:t>
            </a:r>
            <a:r>
              <a:rPr lang="en-US" b="1" err="1"/>
              <a:t>và</a:t>
            </a:r>
            <a:r>
              <a:rPr lang="en-US" b="1"/>
              <a:t> </a:t>
            </a:r>
            <a:r>
              <a:rPr lang="en-US" b="1" err="1"/>
              <a:t>trở</a:t>
            </a:r>
            <a:r>
              <a:rPr lang="en-US" b="1"/>
              <a:t> Nulling</a:t>
            </a:r>
          </a:p>
        </p:txBody>
      </p: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02DFC868-3E06-505F-4415-54117F8D0B86}"/>
              </a:ext>
            </a:extLst>
          </p:cNvPr>
          <p:cNvSpPr txBox="1"/>
          <p:nvPr/>
        </p:nvSpPr>
        <p:spPr>
          <a:xfrm>
            <a:off x="0" y="1191569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/>
              <a:t>Gain </a:t>
            </a:r>
            <a:r>
              <a:rPr lang="en-US" b="1" err="1"/>
              <a:t>của</a:t>
            </a:r>
            <a:r>
              <a:rPr lang="en-US" b="1"/>
              <a:t> </a:t>
            </a:r>
            <a:r>
              <a:rPr lang="en-US" b="1" err="1"/>
              <a:t>mạch</a:t>
            </a:r>
            <a:endParaRPr lang="vi-VN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3C5D71A6-2FB6-756C-029D-1DD9312B89C5}"/>
                  </a:ext>
                </a:extLst>
              </p:cNvPr>
              <p:cNvSpPr txBox="1"/>
              <p:nvPr/>
            </p:nvSpPr>
            <p:spPr>
              <a:xfrm>
                <a:off x="234649" y="1507722"/>
                <a:ext cx="2868734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Hộp Văn bản 37">
                <a:extLst>
                  <a:ext uri="{FF2B5EF4-FFF2-40B4-BE49-F238E27FC236}">
                    <a16:creationId xmlns:a16="http://schemas.microsoft.com/office/drawing/2014/main" id="{3C5D71A6-2FB6-756C-029D-1DD9312B8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9" y="1507722"/>
                <a:ext cx="2868734" cy="303673"/>
              </a:xfrm>
              <a:prstGeom prst="rect">
                <a:avLst/>
              </a:prstGeom>
              <a:blipFill>
                <a:blip r:embed="rId16"/>
                <a:stretch>
                  <a:fillRect l="-1274" r="-2548" b="-26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7D963A2C-00BA-1C29-94A0-23D384041FC2}"/>
                  </a:ext>
                </a:extLst>
              </p:cNvPr>
              <p:cNvSpPr txBox="1"/>
              <p:nvPr/>
            </p:nvSpPr>
            <p:spPr>
              <a:xfrm>
                <a:off x="234649" y="1785873"/>
                <a:ext cx="2694392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07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7D963A2C-00BA-1C29-94A0-23D384041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9" y="1785873"/>
                <a:ext cx="2694392" cy="303673"/>
              </a:xfrm>
              <a:prstGeom prst="rect">
                <a:avLst/>
              </a:prstGeom>
              <a:blipFill>
                <a:blip r:embed="rId17"/>
                <a:stretch>
                  <a:fillRect l="-1584" r="-2941" b="-26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49DB7FD2-16FD-2D03-D84F-B235D0FBD078}"/>
                  </a:ext>
                </a:extLst>
              </p:cNvPr>
              <p:cNvSpPr txBox="1"/>
              <p:nvPr/>
            </p:nvSpPr>
            <p:spPr>
              <a:xfrm>
                <a:off x="84065" y="2120676"/>
                <a:ext cx="2307939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49DB7FD2-16FD-2D03-D84F-B235D0FBD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5" y="2120676"/>
                <a:ext cx="2307939" cy="303673"/>
              </a:xfrm>
              <a:prstGeom prst="rect">
                <a:avLst/>
              </a:prstGeom>
              <a:blipFill>
                <a:blip r:embed="rId18"/>
                <a:stretch>
                  <a:fillRect l="-1323" r="-1323" b="-26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B5E7177-79A3-F863-5A91-9935556582A4}"/>
                  </a:ext>
                </a:extLst>
              </p:cNvPr>
              <p:cNvSpPr txBox="1"/>
              <p:nvPr/>
            </p:nvSpPr>
            <p:spPr>
              <a:xfrm>
                <a:off x="2239477" y="2108142"/>
                <a:ext cx="375288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06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07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endParaRPr lang="vi-VN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DB5E7177-79A3-F863-5A91-993555658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477" y="2108142"/>
                <a:ext cx="3752887" cy="553998"/>
              </a:xfrm>
              <a:prstGeom prst="rect">
                <a:avLst/>
              </a:prstGeom>
              <a:blipFill>
                <a:blip r:embed="rId19"/>
                <a:stretch>
                  <a:fillRect t="-109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645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849E7D5-3274-E7D9-76F1-566DD8EA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00D8B5EA-367F-D0A9-0A68-A305407D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mạch</a:t>
            </a:r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8119DF0-EA42-D11B-E732-D538CC6F8F2A}"/>
              </a:ext>
            </a:extLst>
          </p:cNvPr>
          <p:cNvSpPr txBox="1"/>
          <p:nvPr/>
        </p:nvSpPr>
        <p:spPr>
          <a:xfrm>
            <a:off x="235077" y="913210"/>
            <a:ext cx="25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tụ</a:t>
            </a:r>
            <a:r>
              <a:rPr lang="en-US" b="1" dirty="0"/>
              <a:t> </a:t>
            </a:r>
            <a:r>
              <a:rPr lang="en-US" b="1" dirty="0" err="1"/>
              <a:t>bù</a:t>
            </a:r>
            <a:r>
              <a:rPr lang="en-US" b="1" dirty="0"/>
              <a:t> Miller</a:t>
            </a:r>
            <a:endParaRPr lang="vi-VN" b="1" dirty="0"/>
          </a:p>
        </p:txBody>
      </p:sp>
      <p:grpSp>
        <p:nvGrpSpPr>
          <p:cNvPr id="13" name="Nhóm 12">
            <a:extLst>
              <a:ext uri="{FF2B5EF4-FFF2-40B4-BE49-F238E27FC236}">
                <a16:creationId xmlns:a16="http://schemas.microsoft.com/office/drawing/2014/main" id="{18BB3A0B-B9EA-27E6-F9ED-FB474CA1E925}"/>
              </a:ext>
            </a:extLst>
          </p:cNvPr>
          <p:cNvGrpSpPr/>
          <p:nvPr/>
        </p:nvGrpSpPr>
        <p:grpSpPr>
          <a:xfrm>
            <a:off x="605930" y="1298446"/>
            <a:ext cx="5085623" cy="555902"/>
            <a:chOff x="812605" y="2668062"/>
            <a:chExt cx="5085623" cy="5559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Hộp Văn bản 3">
                  <a:extLst>
                    <a:ext uri="{FF2B5EF4-FFF2-40B4-BE49-F238E27FC236}">
                      <a16:creationId xmlns:a16="http://schemas.microsoft.com/office/drawing/2014/main" id="{61366939-3E77-686C-DACE-CE97CB24A191}"/>
                    </a:ext>
                  </a:extLst>
                </p:cNvPr>
                <p:cNvSpPr txBox="1"/>
                <p:nvPr/>
              </p:nvSpPr>
              <p:spPr>
                <a:xfrm>
                  <a:off x="812605" y="2668062"/>
                  <a:ext cx="1292469" cy="2706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≥0.22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𝐶𝐿</m:t>
                        </m:r>
                      </m:oMath>
                    </m:oMathPara>
                  </a14:m>
                  <a:endParaRPr lang="vi-VN" i="1" baseline="-25000" dirty="0"/>
                </a:p>
              </p:txBody>
            </p:sp>
          </mc:Choice>
          <mc:Fallback xmlns="">
            <p:sp>
              <p:nvSpPr>
                <p:cNvPr id="4" name="Hộp Văn bản 3">
                  <a:extLst>
                    <a:ext uri="{FF2B5EF4-FFF2-40B4-BE49-F238E27FC236}">
                      <a16:creationId xmlns:a16="http://schemas.microsoft.com/office/drawing/2014/main" id="{61366939-3E77-686C-DACE-CE97CB24A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05" y="2668062"/>
                  <a:ext cx="1292469" cy="270652"/>
                </a:xfrm>
                <a:prstGeom prst="rect">
                  <a:avLst/>
                </a:prstGeom>
                <a:blipFill>
                  <a:blip r:embed="rId2"/>
                  <a:stretch>
                    <a:fillRect l="-3774" r="-1887" b="-20455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Hộp Văn bản 11">
                  <a:extLst>
                    <a:ext uri="{FF2B5EF4-FFF2-40B4-BE49-F238E27FC236}">
                      <a16:creationId xmlns:a16="http://schemas.microsoft.com/office/drawing/2014/main" id="{DE340C80-AD71-3995-5837-5D3BC8EB690B}"/>
                    </a:ext>
                  </a:extLst>
                </p:cNvPr>
                <p:cNvSpPr txBox="1"/>
                <p:nvPr/>
              </p:nvSpPr>
              <p:spPr>
                <a:xfrm>
                  <a:off x="812605" y="2953312"/>
                  <a:ext cx="5085623" cy="2706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⟹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≥0.22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0.3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𝑝𝐹</m:t>
                        </m:r>
                      </m:oMath>
                    </m:oMathPara>
                  </a14:m>
                  <a:endParaRPr lang="vi-VN" i="1" baseline="-25000" dirty="0"/>
                </a:p>
              </p:txBody>
            </p:sp>
          </mc:Choice>
          <mc:Fallback xmlns="">
            <p:sp>
              <p:nvSpPr>
                <p:cNvPr id="12" name="Hộp Văn bản 11">
                  <a:extLst>
                    <a:ext uri="{FF2B5EF4-FFF2-40B4-BE49-F238E27FC236}">
                      <a16:creationId xmlns:a16="http://schemas.microsoft.com/office/drawing/2014/main" id="{DE340C80-AD71-3995-5837-5D3BC8EB6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05" y="2953312"/>
                  <a:ext cx="5085623" cy="270652"/>
                </a:xfrm>
                <a:prstGeom prst="rect">
                  <a:avLst/>
                </a:prstGeom>
                <a:blipFill>
                  <a:blip r:embed="rId3"/>
                  <a:stretch>
                    <a:fillRect l="-838" r="-1078" b="-38636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8CACBDFF-3D6C-4426-46B7-E06AE5681807}"/>
              </a:ext>
            </a:extLst>
          </p:cNvPr>
          <p:cNvSpPr txBox="1"/>
          <p:nvPr/>
        </p:nvSpPr>
        <p:spPr>
          <a:xfrm>
            <a:off x="235077" y="1855655"/>
            <a:ext cx="3520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 Slew Rate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M5</a:t>
            </a:r>
            <a:endParaRPr lang="vi-V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523103C6-9F88-12EF-E3F9-017A916FC195}"/>
                  </a:ext>
                </a:extLst>
              </p:cNvPr>
              <p:cNvSpPr txBox="1"/>
              <p:nvPr/>
            </p:nvSpPr>
            <p:spPr>
              <a:xfrm>
                <a:off x="672905" y="2236989"/>
                <a:ext cx="13842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𝐶𝐶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20" name="Hộp Văn bản 19">
                <a:extLst>
                  <a:ext uri="{FF2B5EF4-FFF2-40B4-BE49-F238E27FC236}">
                    <a16:creationId xmlns:a16="http://schemas.microsoft.com/office/drawing/2014/main" id="{523103C6-9F88-12EF-E3F9-017A916FC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05" y="2236989"/>
                <a:ext cx="1384225" cy="276999"/>
              </a:xfrm>
              <a:prstGeom prst="rect">
                <a:avLst/>
              </a:prstGeom>
              <a:blipFill>
                <a:blip r:embed="rId4"/>
                <a:stretch>
                  <a:fillRect l="-3524" r="-3084" b="-1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707DF3DD-6085-1340-7CD2-400811FC16CB}"/>
                  </a:ext>
                </a:extLst>
              </p:cNvPr>
              <p:cNvSpPr txBox="1"/>
              <p:nvPr/>
            </p:nvSpPr>
            <p:spPr>
              <a:xfrm>
                <a:off x="605930" y="2513543"/>
                <a:ext cx="65414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Trong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thi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ế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ế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ự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ch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ọ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Slew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ụ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ti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à: 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𝑆𝑅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 = 53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23" name="Hộp Văn bản 22">
                <a:extLst>
                  <a:ext uri="{FF2B5EF4-FFF2-40B4-BE49-F238E27FC236}">
                    <a16:creationId xmlns:a16="http://schemas.microsoft.com/office/drawing/2014/main" id="{707DF3DD-6085-1340-7CD2-400811FC1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30" y="2513543"/>
                <a:ext cx="6541406" cy="276999"/>
              </a:xfrm>
              <a:prstGeom prst="rect">
                <a:avLst/>
              </a:prstGeom>
              <a:blipFill>
                <a:blip r:embed="rId5"/>
                <a:stretch>
                  <a:fillRect l="-652" t="-4348" r="-373" b="-3695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Hộp Văn bản 26">
                <a:extLst>
                  <a:ext uri="{FF2B5EF4-FFF2-40B4-BE49-F238E27FC236}">
                    <a16:creationId xmlns:a16="http://schemas.microsoft.com/office/drawing/2014/main" id="{E495A5B5-28B0-E5E8-BB0A-A3FBE6D8020B}"/>
                  </a:ext>
                </a:extLst>
              </p:cNvPr>
              <p:cNvSpPr txBox="1"/>
              <p:nvPr/>
            </p:nvSpPr>
            <p:spPr>
              <a:xfrm>
                <a:off x="640405" y="2798100"/>
                <a:ext cx="3675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ừ đó,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đượ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á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ị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ò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27" name="Hộp Văn bản 26">
                <a:extLst>
                  <a:ext uri="{FF2B5EF4-FFF2-40B4-BE49-F238E27FC236}">
                    <a16:creationId xmlns:a16="http://schemas.microsoft.com/office/drawing/2014/main" id="{E495A5B5-28B0-E5E8-BB0A-A3FBE6D80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05" y="2798100"/>
                <a:ext cx="3675686" cy="276999"/>
              </a:xfrm>
              <a:prstGeom prst="rect">
                <a:avLst/>
              </a:prstGeom>
              <a:blipFill>
                <a:blip r:embed="rId6"/>
                <a:stretch>
                  <a:fillRect l="-995" t="-2222" r="-166" b="-40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B4A8B129-AB1A-FDA6-7BF6-C9F202F5A159}"/>
                  </a:ext>
                </a:extLst>
              </p:cNvPr>
              <p:cNvSpPr txBox="1"/>
              <p:nvPr/>
            </p:nvSpPr>
            <p:spPr>
              <a:xfrm>
                <a:off x="4572000" y="2780506"/>
                <a:ext cx="32774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 = 53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. 0.3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15.9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B4A8B129-AB1A-FDA6-7BF6-C9F202F5A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780506"/>
                <a:ext cx="3277436" cy="276999"/>
              </a:xfrm>
              <a:prstGeom prst="rect">
                <a:avLst/>
              </a:prstGeom>
              <a:blipFill>
                <a:blip r:embed="rId7"/>
                <a:stretch>
                  <a:fillRect l="-1115" r="-929" b="-3478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Hộp Văn bản 31">
                <a:extLst>
                  <a:ext uri="{FF2B5EF4-FFF2-40B4-BE49-F238E27FC236}">
                    <a16:creationId xmlns:a16="http://schemas.microsoft.com/office/drawing/2014/main" id="{88F94C02-F821-E0E2-D478-25B0A046F56F}"/>
                  </a:ext>
                </a:extLst>
              </p:cNvPr>
              <p:cNvSpPr txBox="1"/>
              <p:nvPr/>
            </p:nvSpPr>
            <p:spPr>
              <a:xfrm>
                <a:off x="672905" y="3100192"/>
                <a:ext cx="902009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ọ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ò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16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Khi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hai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đầ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â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ằ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ò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 đượ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chia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đề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cho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hai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nh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nh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vi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sai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32" name="Hộp Văn bản 31">
                <a:extLst>
                  <a:ext uri="{FF2B5EF4-FFF2-40B4-BE49-F238E27FC236}">
                    <a16:creationId xmlns:a16="http://schemas.microsoft.com/office/drawing/2014/main" id="{88F94C02-F821-E0E2-D478-25B0A046F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05" y="3100192"/>
                <a:ext cx="9020098" cy="553998"/>
              </a:xfrm>
              <a:prstGeom prst="rect">
                <a:avLst/>
              </a:prstGeom>
              <a:blipFill>
                <a:blip r:embed="rId8"/>
                <a:stretch>
                  <a:fillRect l="-1149" t="-2222" b="-2111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0562F16E-B6EC-3FB0-8A8E-F70E4E7A450B}"/>
                  </a:ext>
                </a:extLst>
              </p:cNvPr>
              <p:cNvSpPr txBox="1"/>
              <p:nvPr/>
            </p:nvSpPr>
            <p:spPr>
              <a:xfrm>
                <a:off x="2938766" y="3757808"/>
                <a:ext cx="2648802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 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8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37" name="Hộp Văn bản 36">
                <a:extLst>
                  <a:ext uri="{FF2B5EF4-FFF2-40B4-BE49-F238E27FC236}">
                    <a16:creationId xmlns:a16="http://schemas.microsoft.com/office/drawing/2014/main" id="{0562F16E-B6EC-3FB0-8A8E-F70E4E7A4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766" y="3757808"/>
                <a:ext cx="2648802" cy="5241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Hộp Văn bản 42">
            <a:extLst>
              <a:ext uri="{FF2B5EF4-FFF2-40B4-BE49-F238E27FC236}">
                <a16:creationId xmlns:a16="http://schemas.microsoft.com/office/drawing/2014/main" id="{A836D5AF-8D2F-F2A0-5AB3-07641CAA3048}"/>
              </a:ext>
            </a:extLst>
          </p:cNvPr>
          <p:cNvSpPr txBox="1"/>
          <p:nvPr/>
        </p:nvSpPr>
        <p:spPr>
          <a:xfrm>
            <a:off x="235077" y="4287212"/>
            <a:ext cx="402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cặp</a:t>
            </a:r>
            <a:r>
              <a:rPr lang="en-US" b="1" dirty="0"/>
              <a:t> vi </a:t>
            </a:r>
            <a:r>
              <a:rPr lang="en-US" b="1" dirty="0" err="1"/>
              <a:t>sai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M1 – M2</a:t>
            </a:r>
            <a:endParaRPr lang="vi-V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805B7E4A-7998-DD9E-0AF6-5719AB0A596D}"/>
                  </a:ext>
                </a:extLst>
              </p:cNvPr>
              <p:cNvSpPr txBox="1"/>
              <p:nvPr/>
            </p:nvSpPr>
            <p:spPr>
              <a:xfrm>
                <a:off x="552517" y="4655366"/>
                <a:ext cx="26917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𝐷𝐶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79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8912,51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48" name="Hộp Văn bản 47">
                <a:extLst>
                  <a:ext uri="{FF2B5EF4-FFF2-40B4-BE49-F238E27FC236}">
                    <a16:creationId xmlns:a16="http://schemas.microsoft.com/office/drawing/2014/main" id="{805B7E4A-7998-DD9E-0AF6-5719AB0A5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17" y="4655366"/>
                <a:ext cx="2691763" cy="276999"/>
              </a:xfrm>
              <a:prstGeom prst="rect">
                <a:avLst/>
              </a:prstGeom>
              <a:blipFill>
                <a:blip r:embed="rId10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9CF596A-904C-9815-44F0-19E1AD8A8CAE}"/>
                  </a:ext>
                </a:extLst>
              </p:cNvPr>
              <p:cNvSpPr txBox="1"/>
              <p:nvPr/>
            </p:nvSpPr>
            <p:spPr>
              <a:xfrm>
                <a:off x="491551" y="4970214"/>
                <a:ext cx="6049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Suy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=8912.51 × 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89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50" name="Hộp Văn bản 49">
                <a:extLst>
                  <a:ext uri="{FF2B5EF4-FFF2-40B4-BE49-F238E27FC236}">
                    <a16:creationId xmlns:a16="http://schemas.microsoft.com/office/drawing/2014/main" id="{39CF596A-904C-9815-44F0-19E1AD8A8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51" y="4970214"/>
                <a:ext cx="6049028" cy="276999"/>
              </a:xfrm>
              <a:prstGeom prst="rect">
                <a:avLst/>
              </a:prstGeom>
              <a:blipFill>
                <a:blip r:embed="rId11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61E5AE54-91C7-E281-9DFB-2B94409D03B8}"/>
                  </a:ext>
                </a:extLst>
              </p:cNvPr>
              <p:cNvSpPr txBox="1"/>
              <p:nvPr/>
            </p:nvSpPr>
            <p:spPr>
              <a:xfrm>
                <a:off x="480258" y="5208187"/>
                <a:ext cx="6730753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ừ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ứ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𝐺𝐵𝑊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𝑔𝑚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= 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𝐺𝐵𝑊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167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vi-VN" i="1" dirty="0"/>
              </a:p>
            </p:txBody>
          </p:sp>
        </mc:Choice>
        <mc:Fallback xmlns="">
          <p:sp>
            <p:nvSpPr>
              <p:cNvPr id="51" name="Hộp Văn bản 50">
                <a:extLst>
                  <a:ext uri="{FF2B5EF4-FFF2-40B4-BE49-F238E27FC236}">
                    <a16:creationId xmlns:a16="http://schemas.microsoft.com/office/drawing/2014/main" id="{61E5AE54-91C7-E281-9DFB-2B94409D0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8" y="5208187"/>
                <a:ext cx="6730753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8BA950D3-F857-634D-B666-1482840C7981}"/>
                  </a:ext>
                </a:extLst>
              </p:cNvPr>
              <p:cNvSpPr txBox="1"/>
              <p:nvPr/>
            </p:nvSpPr>
            <p:spPr>
              <a:xfrm>
                <a:off x="3776514" y="5632465"/>
                <a:ext cx="5148269" cy="901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15.16.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16</m:t>
                      </m:r>
                    </m:oMath>
                  </m:oMathPara>
                </a14:m>
                <a:endParaRPr lang="vi-VN" i="1" dirty="0"/>
              </a:p>
              <a:p>
                <a:endParaRPr lang="vi-VN" i="1" dirty="0"/>
              </a:p>
            </p:txBody>
          </p:sp>
        </mc:Choice>
        <mc:Fallback xmlns="">
          <p:sp>
            <p:nvSpPr>
              <p:cNvPr id="53" name="Hộp Văn bản 52">
                <a:extLst>
                  <a:ext uri="{FF2B5EF4-FFF2-40B4-BE49-F238E27FC236}">
                    <a16:creationId xmlns:a16="http://schemas.microsoft.com/office/drawing/2014/main" id="{8BA950D3-F857-634D-B666-1482840C7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514" y="5632465"/>
                <a:ext cx="5148269" cy="9015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59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4E3CB99-55A2-ECCD-CAB4-3DB9DB4F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DB993B7-3119-941B-62D6-AC749ED5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mạch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6E61ABED-6B16-F5E5-A183-A79A842035F9}"/>
                  </a:ext>
                </a:extLst>
              </p:cNvPr>
              <p:cNvSpPr txBox="1"/>
              <p:nvPr/>
            </p:nvSpPr>
            <p:spPr>
              <a:xfrm>
                <a:off x="287616" y="846151"/>
                <a:ext cx="34371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𝑟𝑒𝑓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32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𝑢𝐴</m:t>
                    </m:r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6E61ABED-6B16-F5E5-A183-A79A8420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16" y="846151"/>
                <a:ext cx="3437159" cy="369332"/>
              </a:xfrm>
              <a:prstGeom prst="rect">
                <a:avLst/>
              </a:prstGeom>
              <a:blipFill>
                <a:blip r:embed="rId2"/>
                <a:stretch>
                  <a:fillRect l="-1064"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915B125E-43AD-574C-232F-E126ABC9C939}"/>
                  </a:ext>
                </a:extLst>
              </p:cNvPr>
              <p:cNvSpPr txBox="1"/>
              <p:nvPr/>
            </p:nvSpPr>
            <p:spPr>
              <a:xfrm>
                <a:off x="287616" y="1189703"/>
                <a:ext cx="2525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𝑜𝑣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vi-VN" dirty="0"/>
              </a:p>
            </p:txBody>
          </p:sp>
        </mc:Choice>
        <mc:Fallback xmlns="">
          <p:sp>
            <p:nvSpPr>
              <p:cNvPr id="6" name="Hộp Văn bản 5">
                <a:extLst>
                  <a:ext uri="{FF2B5EF4-FFF2-40B4-BE49-F238E27FC236}">
                    <a16:creationId xmlns:a16="http://schemas.microsoft.com/office/drawing/2014/main" id="{915B125E-43AD-574C-232F-E126ABC9C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16" y="1189703"/>
                <a:ext cx="2525948" cy="369332"/>
              </a:xfrm>
              <a:prstGeom prst="rect">
                <a:avLst/>
              </a:prstGeom>
              <a:blipFill>
                <a:blip r:embed="rId3"/>
                <a:stretch>
                  <a:fillRect l="-1446"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D6C0B581-E59C-282D-7D6A-54B77F37D585}"/>
              </a:ext>
            </a:extLst>
          </p:cNvPr>
          <p:cNvSpPr txBox="1"/>
          <p:nvPr/>
        </p:nvSpPr>
        <p:spPr>
          <a:xfrm>
            <a:off x="2770731" y="1178969"/>
            <a:ext cx="712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 </a:t>
            </a:r>
            <a:r>
              <a:rPr lang="en-US" dirty="0" err="1"/>
              <a:t>có</a:t>
            </a:r>
            <a:r>
              <a:rPr lang="en-US" dirty="0"/>
              <a:t> 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F13FCAB-B800-BB9F-4C01-242D976D2BA7}"/>
                  </a:ext>
                </a:extLst>
              </p:cNvPr>
              <p:cNvSpPr txBox="1"/>
              <p:nvPr/>
            </p:nvSpPr>
            <p:spPr>
              <a:xfrm>
                <a:off x="3417147" y="1215971"/>
                <a:ext cx="2614883" cy="564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vi-V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vi-V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ox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sty m:val="p"/>
                                </m:rPr>
                                <a:rPr lang="vi-VN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ov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16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F13FCAB-B800-BB9F-4C01-242D976D2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147" y="1215971"/>
                <a:ext cx="2614883" cy="5641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A178E961-B6D7-A220-DA3B-3177B3E351E5}"/>
                  </a:ext>
                </a:extLst>
              </p:cNvPr>
              <p:cNvSpPr txBox="1"/>
              <p:nvPr/>
            </p:nvSpPr>
            <p:spPr>
              <a:xfrm>
                <a:off x="6434133" y="1178969"/>
                <a:ext cx="2154885" cy="562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ọ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16</m:t>
                      </m:r>
                    </m:oMath>
                  </m:oMathPara>
                </a14:m>
                <a:endParaRPr lang="vi-VN" dirty="0"/>
              </a:p>
            </p:txBody>
          </p:sp>
        </mc:Choice>
        <mc:Fallback xmlns="">
          <p:sp>
            <p:nvSpPr>
              <p:cNvPr id="10" name="Hộp Văn bản 9">
                <a:extLst>
                  <a:ext uri="{FF2B5EF4-FFF2-40B4-BE49-F238E27FC236}">
                    <a16:creationId xmlns:a16="http://schemas.microsoft.com/office/drawing/2014/main" id="{A178E961-B6D7-A220-DA3B-3177B3E3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33" y="1178969"/>
                <a:ext cx="2154885" cy="562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Hình chữ nhật 35">
            <a:extLst>
              <a:ext uri="{FF2B5EF4-FFF2-40B4-BE49-F238E27FC236}">
                <a16:creationId xmlns:a16="http://schemas.microsoft.com/office/drawing/2014/main" id="{C746C27F-02CF-7E72-0C06-6A9CE1A30545}"/>
              </a:ext>
            </a:extLst>
          </p:cNvPr>
          <p:cNvSpPr/>
          <p:nvPr/>
        </p:nvSpPr>
        <p:spPr>
          <a:xfrm>
            <a:off x="6823543" y="1133277"/>
            <a:ext cx="1804902" cy="63686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44" name="Nhóm 43">
            <a:extLst>
              <a:ext uri="{FF2B5EF4-FFF2-40B4-BE49-F238E27FC236}">
                <a16:creationId xmlns:a16="http://schemas.microsoft.com/office/drawing/2014/main" id="{F57E8A79-461C-9F56-3CF3-C687A29EAFDC}"/>
              </a:ext>
            </a:extLst>
          </p:cNvPr>
          <p:cNvGrpSpPr/>
          <p:nvPr/>
        </p:nvGrpSpPr>
        <p:grpSpPr>
          <a:xfrm>
            <a:off x="328164" y="2898156"/>
            <a:ext cx="8260854" cy="3271752"/>
            <a:chOff x="331946" y="2146980"/>
            <a:chExt cx="8260854" cy="32717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Hộp Văn bản 13">
                  <a:extLst>
                    <a:ext uri="{FF2B5EF4-FFF2-40B4-BE49-F238E27FC236}">
                      <a16:creationId xmlns:a16="http://schemas.microsoft.com/office/drawing/2014/main" id="{0C814010-64CD-3D3A-D0FD-0E8E38C82B44}"/>
                    </a:ext>
                  </a:extLst>
                </p:cNvPr>
                <p:cNvSpPr txBox="1"/>
                <p:nvPr/>
              </p:nvSpPr>
              <p:spPr>
                <a:xfrm>
                  <a:off x="368997" y="2176675"/>
                  <a:ext cx="25259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r>
                    <a:rPr lang="en-US" dirty="0" err="1"/>
                    <a:t>Chọn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𝑜𝑣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6 = 400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𝑚𝑉</m:t>
                      </m:r>
                    </m:oMath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14" name="Hộp Văn bản 13">
                  <a:extLst>
                    <a:ext uri="{FF2B5EF4-FFF2-40B4-BE49-F238E27FC236}">
                      <a16:creationId xmlns:a16="http://schemas.microsoft.com/office/drawing/2014/main" id="{0C814010-64CD-3D3A-D0FD-0E8E38C82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97" y="2176675"/>
                  <a:ext cx="252594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691" t="-8197" b="-24590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Hộp Văn bản 16">
                  <a:extLst>
                    <a:ext uri="{FF2B5EF4-FFF2-40B4-BE49-F238E27FC236}">
                      <a16:creationId xmlns:a16="http://schemas.microsoft.com/office/drawing/2014/main" id="{08A57F72-AF12-22BB-600B-C573336155AA}"/>
                    </a:ext>
                  </a:extLst>
                </p:cNvPr>
                <p:cNvSpPr txBox="1"/>
                <p:nvPr/>
              </p:nvSpPr>
              <p:spPr>
                <a:xfrm>
                  <a:off x="2770731" y="2146980"/>
                  <a:ext cx="2611676" cy="5641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vi-V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vi-VN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ox</m:t>
                            </m:r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m:rPr>
                                    <m:sty m:val="p"/>
                                  </m:rPr>
                                  <a:rPr lang="vi-VN" b="0" i="1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a:rPr lang="en-US" b="0" i="1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=7.7</m:t>
                        </m:r>
                      </m:oMath>
                    </m:oMathPara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17" name="Hộp Văn bản 16">
                  <a:extLst>
                    <a:ext uri="{FF2B5EF4-FFF2-40B4-BE49-F238E27FC236}">
                      <a16:creationId xmlns:a16="http://schemas.microsoft.com/office/drawing/2014/main" id="{08A57F72-AF12-22BB-600B-C57333615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0731" y="2146980"/>
                  <a:ext cx="2611676" cy="564129"/>
                </a:xfrm>
                <a:prstGeom prst="rect">
                  <a:avLst/>
                </a:prstGeom>
                <a:blipFill>
                  <a:blip r:embed="rId7"/>
                  <a:stretch>
                    <a:fillRect b="-5376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Hộp Văn bản 17">
                  <a:extLst>
                    <a:ext uri="{FF2B5EF4-FFF2-40B4-BE49-F238E27FC236}">
                      <a16:creationId xmlns:a16="http://schemas.microsoft.com/office/drawing/2014/main" id="{8A0D8E31-1DB1-47C4-C1B8-31418F16F531}"/>
                    </a:ext>
                  </a:extLst>
                </p:cNvPr>
                <p:cNvSpPr txBox="1"/>
                <p:nvPr/>
              </p:nvSpPr>
              <p:spPr>
                <a:xfrm>
                  <a:off x="5536227" y="2184343"/>
                  <a:ext cx="1975348" cy="5622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ọ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18" name="Hộp Văn bản 17">
                  <a:extLst>
                    <a:ext uri="{FF2B5EF4-FFF2-40B4-BE49-F238E27FC236}">
                      <a16:creationId xmlns:a16="http://schemas.microsoft.com/office/drawing/2014/main" id="{8A0D8E31-1DB1-47C4-C1B8-31418F16F5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6227" y="2184343"/>
                  <a:ext cx="1975348" cy="56227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Hộp Văn bản 18">
                  <a:extLst>
                    <a:ext uri="{FF2B5EF4-FFF2-40B4-BE49-F238E27FC236}">
                      <a16:creationId xmlns:a16="http://schemas.microsoft.com/office/drawing/2014/main" id="{EEDB6B03-38E8-C18A-EDFB-0E47898C1A02}"/>
                    </a:ext>
                  </a:extLst>
                </p:cNvPr>
                <p:cNvSpPr txBox="1"/>
                <p:nvPr/>
              </p:nvSpPr>
              <p:spPr>
                <a:xfrm>
                  <a:off x="331946" y="2880225"/>
                  <a:ext cx="826085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r>
                    <a:rPr lang="en-US" dirty="0" err="1"/>
                    <a:t>Giả</a:t>
                  </a:r>
                  <a:r>
                    <a:rPr lang="en-US" dirty="0"/>
                    <a:t> </a:t>
                  </a:r>
                  <a:r>
                    <a:rPr lang="en-US" dirty="0" err="1"/>
                    <a:t>sử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𝑆𝐺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4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𝑆𝐺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a14:m>
                  <a:r>
                    <a:rPr lang="en-US" dirty="0"/>
                    <a:t>. </a:t>
                  </a:r>
                  <a:r>
                    <a:rPr lang="en-US" dirty="0" err="1"/>
                    <a:t>Điều</a:t>
                  </a:r>
                  <a:r>
                    <a:rPr lang="en-US" dirty="0"/>
                    <a:t> </a:t>
                  </a:r>
                  <a:r>
                    <a:rPr lang="en-US" dirty="0" err="1"/>
                    <a:t>này</a:t>
                  </a:r>
                  <a:r>
                    <a:rPr lang="en-US" dirty="0"/>
                    <a:t> </a:t>
                  </a:r>
                  <a:r>
                    <a:rPr lang="en-US" dirty="0" err="1"/>
                    <a:t>giúp</a:t>
                  </a:r>
                  <a:r>
                    <a:rPr lang="en-US" dirty="0"/>
                    <a:t> M3 – M4 </a:t>
                  </a:r>
                  <a:r>
                    <a:rPr lang="en-US" dirty="0" err="1"/>
                    <a:t>sao</a:t>
                  </a:r>
                  <a:r>
                    <a:rPr lang="en-US" dirty="0"/>
                    <a:t> </a:t>
                  </a:r>
                  <a:r>
                    <a:rPr lang="en-US" dirty="0" err="1"/>
                    <a:t>chép</a:t>
                  </a:r>
                  <a:r>
                    <a:rPr lang="en-US" dirty="0"/>
                    <a:t> </a:t>
                  </a:r>
                  <a:r>
                    <a:rPr lang="en-US" dirty="0" err="1"/>
                    <a:t>dòng</a:t>
                  </a:r>
                  <a:r>
                    <a:rPr lang="en-US" dirty="0"/>
                    <a:t> </a:t>
                  </a:r>
                  <a:r>
                    <a:rPr lang="en-US" dirty="0" err="1"/>
                    <a:t>chính</a:t>
                  </a:r>
                  <a:r>
                    <a:rPr lang="en-US" dirty="0"/>
                    <a:t> </a:t>
                  </a:r>
                  <a:r>
                    <a:rPr lang="en-US" dirty="0" err="1"/>
                    <a:t>xác</a:t>
                  </a:r>
                  <a:r>
                    <a:rPr lang="en-US" dirty="0"/>
                    <a:t>, </a:t>
                  </a:r>
                  <a:r>
                    <a:rPr lang="en-US" dirty="0" err="1"/>
                    <a:t>đồng</a:t>
                  </a:r>
                  <a:r>
                    <a:rPr lang="en-US" dirty="0"/>
                    <a:t> </a:t>
                  </a:r>
                  <a:r>
                    <a:rPr lang="en-US" dirty="0" err="1"/>
                    <a:t>thời</a:t>
                  </a:r>
                  <a:r>
                    <a:rPr lang="en-US" dirty="0"/>
                    <a:t> </a:t>
                  </a:r>
                  <a:r>
                    <a:rPr lang="en-US" dirty="0" err="1"/>
                    <a:t>ép</a:t>
                  </a:r>
                  <a:r>
                    <a:rPr lang="en-US" dirty="0"/>
                    <a:t> M4 ở </a:t>
                  </a:r>
                  <a:r>
                    <a:rPr lang="en-US" dirty="0" err="1"/>
                    <a:t>vùng</a:t>
                  </a:r>
                  <a:r>
                    <a:rPr lang="en-US" dirty="0"/>
                    <a:t> </a:t>
                  </a:r>
                  <a:r>
                    <a:rPr lang="en-US" dirty="0" err="1"/>
                    <a:t>bão</a:t>
                  </a:r>
                  <a:r>
                    <a:rPr lang="en-US" dirty="0"/>
                    <a:t> </a:t>
                  </a:r>
                  <a:r>
                    <a:rPr lang="en-US" dirty="0" err="1"/>
                    <a:t>hòa</a:t>
                  </a:r>
                  <a:endParaRPr lang="vi-VN" dirty="0"/>
                </a:p>
              </p:txBody>
            </p:sp>
          </mc:Choice>
          <mc:Fallback xmlns="">
            <p:sp>
              <p:nvSpPr>
                <p:cNvPr id="19" name="Hộp Văn bản 18">
                  <a:extLst>
                    <a:ext uri="{FF2B5EF4-FFF2-40B4-BE49-F238E27FC236}">
                      <a16:creationId xmlns:a16="http://schemas.microsoft.com/office/drawing/2014/main" id="{EEDB6B03-38E8-C18A-EDFB-0E47898C1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46" y="2880225"/>
                  <a:ext cx="8260853" cy="646331"/>
                </a:xfrm>
                <a:prstGeom prst="rect">
                  <a:avLst/>
                </a:prstGeom>
                <a:blipFill>
                  <a:blip r:embed="rId9"/>
                  <a:stretch>
                    <a:fillRect l="-517" t="-5660" b="-14151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Hộp Văn bản 23">
              <a:extLst>
                <a:ext uri="{FF2B5EF4-FFF2-40B4-BE49-F238E27FC236}">
                  <a16:creationId xmlns:a16="http://schemas.microsoft.com/office/drawing/2014/main" id="{837E10BE-999D-5197-4CE9-F0C2287A040D}"/>
                </a:ext>
              </a:extLst>
            </p:cNvPr>
            <p:cNvSpPr txBox="1"/>
            <p:nvPr/>
          </p:nvSpPr>
          <p:spPr>
            <a:xfrm>
              <a:off x="4114800" y="2997994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vi-VN"/>
            </a:p>
          </p:txBody>
        </p:sp>
        <p:grpSp>
          <p:nvGrpSpPr>
            <p:cNvPr id="30" name="Nhóm 29">
              <a:extLst>
                <a:ext uri="{FF2B5EF4-FFF2-40B4-BE49-F238E27FC236}">
                  <a16:creationId xmlns:a16="http://schemas.microsoft.com/office/drawing/2014/main" id="{30BDD3BC-F363-227B-21BA-75356F088E1D}"/>
                </a:ext>
              </a:extLst>
            </p:cNvPr>
            <p:cNvGrpSpPr/>
            <p:nvPr/>
          </p:nvGrpSpPr>
          <p:grpSpPr>
            <a:xfrm>
              <a:off x="484727" y="3622645"/>
              <a:ext cx="8108073" cy="1054608"/>
              <a:chOff x="244187" y="4920548"/>
              <a:chExt cx="8108073" cy="10546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Hộp Văn bản 19">
                    <a:extLst>
                      <a:ext uri="{FF2B5EF4-FFF2-40B4-BE49-F238E27FC236}">
                        <a16:creationId xmlns:a16="http://schemas.microsoft.com/office/drawing/2014/main" id="{37756AD7-3AE6-C07D-57A6-2F304FBD7F45}"/>
                      </a:ext>
                    </a:extLst>
                  </p:cNvPr>
                  <p:cNvSpPr txBox="1"/>
                  <p:nvPr/>
                </p:nvSpPr>
                <p:spPr>
                  <a:xfrm>
                    <a:off x="643605" y="4966803"/>
                    <a:ext cx="3122329" cy="10083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𝑆𝐺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4=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𝑉𝑆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6 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vi-VN" baseline="-25000" dirty="0"/>
                  </a:p>
                </p:txBody>
              </p:sp>
            </mc:Choice>
            <mc:Fallback xmlns="">
              <p:sp>
                <p:nvSpPr>
                  <p:cNvPr id="20" name="Hộp Văn bản 19">
                    <a:extLst>
                      <a:ext uri="{FF2B5EF4-FFF2-40B4-BE49-F238E27FC236}">
                        <a16:creationId xmlns:a16="http://schemas.microsoft.com/office/drawing/2014/main" id="{37756AD7-3AE6-C07D-57A6-2F304FBD7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605" y="4966803"/>
                    <a:ext cx="3122329" cy="100835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06"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Hộp Văn bản 22">
                    <a:extLst>
                      <a:ext uri="{FF2B5EF4-FFF2-40B4-BE49-F238E27FC236}">
                        <a16:creationId xmlns:a16="http://schemas.microsoft.com/office/drawing/2014/main" id="{29792702-8D82-DA54-B8EF-87127CD9812F}"/>
                      </a:ext>
                    </a:extLst>
                  </p:cNvPr>
                  <p:cNvSpPr txBox="1"/>
                  <p:nvPr/>
                </p:nvSpPr>
                <p:spPr>
                  <a:xfrm>
                    <a:off x="4437565" y="4933942"/>
                    <a:ext cx="1649169" cy="10088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vi-VN" baseline="-25000"/>
                  </a:p>
                </p:txBody>
              </p:sp>
            </mc:Choice>
            <mc:Fallback xmlns="">
              <p:sp>
                <p:nvSpPr>
                  <p:cNvPr id="23" name="Hộp Văn bản 22">
                    <a:extLst>
                      <a:ext uri="{FF2B5EF4-FFF2-40B4-BE49-F238E27FC236}">
                        <a16:creationId xmlns:a16="http://schemas.microsoft.com/office/drawing/2014/main" id="{29792702-8D82-DA54-B8EF-87127CD981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7565" y="4933942"/>
                    <a:ext cx="1649169" cy="100880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Hộp Văn bản 25">
                <a:extLst>
                  <a:ext uri="{FF2B5EF4-FFF2-40B4-BE49-F238E27FC236}">
                    <a16:creationId xmlns:a16="http://schemas.microsoft.com/office/drawing/2014/main" id="{3B046374-BECE-130D-E58E-120105F3A959}"/>
                  </a:ext>
                </a:extLst>
              </p:cNvPr>
              <p:cNvSpPr txBox="1"/>
              <p:nvPr/>
            </p:nvSpPr>
            <p:spPr>
              <a:xfrm>
                <a:off x="3944591" y="5242996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và</a:t>
                </a:r>
                <a:endParaRPr lang="vi-V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Hộp Văn bản 26">
                    <a:extLst>
                      <a:ext uri="{FF2B5EF4-FFF2-40B4-BE49-F238E27FC236}">
                        <a16:creationId xmlns:a16="http://schemas.microsoft.com/office/drawing/2014/main" id="{01F8F84A-BC3F-B052-DA51-7534C84E148E}"/>
                      </a:ext>
                    </a:extLst>
                  </p:cNvPr>
                  <p:cNvSpPr txBox="1"/>
                  <p:nvPr/>
                </p:nvSpPr>
                <p:spPr>
                  <a:xfrm>
                    <a:off x="6695396" y="4920548"/>
                    <a:ext cx="1656864" cy="101008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vi-VN"/>
                  </a:p>
                </p:txBody>
              </p:sp>
            </mc:Choice>
            <mc:Fallback xmlns="">
              <p:sp>
                <p:nvSpPr>
                  <p:cNvPr id="27" name="Hộp Văn bản 26">
                    <a:extLst>
                      <a:ext uri="{FF2B5EF4-FFF2-40B4-BE49-F238E27FC236}">
                        <a16:creationId xmlns:a16="http://schemas.microsoft.com/office/drawing/2014/main" id="{01F8F84A-BC3F-B052-DA51-7534C84E14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5396" y="4920548"/>
                    <a:ext cx="1656864" cy="101008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DCA84BC2-38F7-1239-D25F-CF9295FB66A9}"/>
                  </a:ext>
                </a:extLst>
              </p:cNvPr>
              <p:cNvSpPr txBox="1"/>
              <p:nvPr/>
            </p:nvSpPr>
            <p:spPr>
              <a:xfrm>
                <a:off x="244187" y="5301021"/>
                <a:ext cx="422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Từ</a:t>
                </a:r>
                <a:endParaRPr lang="vi-V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Hộp Văn bản 28">
                    <a:extLst>
                      <a:ext uri="{FF2B5EF4-FFF2-40B4-BE49-F238E27FC236}">
                        <a16:creationId xmlns:a16="http://schemas.microsoft.com/office/drawing/2014/main" id="{F3426070-4193-2A6C-0A6C-7519E868A65F}"/>
                      </a:ext>
                    </a:extLst>
                  </p:cNvPr>
                  <p:cNvSpPr txBox="1"/>
                  <p:nvPr/>
                </p:nvSpPr>
                <p:spPr>
                  <a:xfrm>
                    <a:off x="6265818" y="5287092"/>
                    <a:ext cx="33663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</m:oMath>
                      </m:oMathPara>
                    </a14:m>
                    <a:endParaRPr lang="vi-VN"/>
                  </a:p>
                </p:txBody>
              </p:sp>
            </mc:Choice>
            <mc:Fallback xmlns="">
              <p:sp>
                <p:nvSpPr>
                  <p:cNvPr id="29" name="Hộp Văn bản 28">
                    <a:extLst>
                      <a:ext uri="{FF2B5EF4-FFF2-40B4-BE49-F238E27FC236}">
                        <a16:creationId xmlns:a16="http://schemas.microsoft.com/office/drawing/2014/main" id="{F3426070-4193-2A6C-0A6C-7519E868A6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5818" y="5287092"/>
                    <a:ext cx="336631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0909" r="-9091" b="-2222"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Hộp Văn bản 30">
                  <a:extLst>
                    <a:ext uri="{FF2B5EF4-FFF2-40B4-BE49-F238E27FC236}">
                      <a16:creationId xmlns:a16="http://schemas.microsoft.com/office/drawing/2014/main" id="{28382007-6DCE-3110-117E-71EAA7F4EE1D}"/>
                    </a:ext>
                  </a:extLst>
                </p:cNvPr>
                <p:cNvSpPr txBox="1"/>
                <p:nvPr/>
              </p:nvSpPr>
              <p:spPr>
                <a:xfrm>
                  <a:off x="6277758" y="4835495"/>
                  <a:ext cx="1175450" cy="5832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vi-VN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31" name="Hộp Văn bản 30">
                  <a:extLst>
                    <a:ext uri="{FF2B5EF4-FFF2-40B4-BE49-F238E27FC236}">
                      <a16:creationId xmlns:a16="http://schemas.microsoft.com/office/drawing/2014/main" id="{28382007-6DCE-3110-117E-71EAA7F4E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758" y="4835495"/>
                  <a:ext cx="1175450" cy="583237"/>
                </a:xfrm>
                <a:prstGeom prst="rect">
                  <a:avLst/>
                </a:prstGeom>
                <a:blipFill>
                  <a:blip r:embed="rId14"/>
                  <a:stretch>
                    <a:fillRect b="-1042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Hình chữ nhật 34">
              <a:extLst>
                <a:ext uri="{FF2B5EF4-FFF2-40B4-BE49-F238E27FC236}">
                  <a16:creationId xmlns:a16="http://schemas.microsoft.com/office/drawing/2014/main" id="{C4385D82-0905-E94F-F739-3CAC6E15BF13}"/>
                </a:ext>
              </a:extLst>
            </p:cNvPr>
            <p:cNvSpPr/>
            <p:nvPr/>
          </p:nvSpPr>
          <p:spPr>
            <a:xfrm>
              <a:off x="5866083" y="2147045"/>
              <a:ext cx="1804902" cy="636866"/>
            </a:xfrm>
            <a:prstGeom prst="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37" name="Hình chữ nhật 36">
              <a:extLst>
                <a:ext uri="{FF2B5EF4-FFF2-40B4-BE49-F238E27FC236}">
                  <a16:creationId xmlns:a16="http://schemas.microsoft.com/office/drawing/2014/main" id="{A91DB3EA-0F1C-C309-0429-168E1C55B4F5}"/>
                </a:ext>
              </a:extLst>
            </p:cNvPr>
            <p:cNvSpPr/>
            <p:nvPr/>
          </p:nvSpPr>
          <p:spPr>
            <a:xfrm>
              <a:off x="6277758" y="4781866"/>
              <a:ext cx="1175450" cy="636866"/>
            </a:xfrm>
            <a:prstGeom prst="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43" name="Nhóm 42">
            <a:extLst>
              <a:ext uri="{FF2B5EF4-FFF2-40B4-BE49-F238E27FC236}">
                <a16:creationId xmlns:a16="http://schemas.microsoft.com/office/drawing/2014/main" id="{588867BF-24AD-0ADF-6CDE-7BB22B15446A}"/>
              </a:ext>
            </a:extLst>
          </p:cNvPr>
          <p:cNvGrpSpPr/>
          <p:nvPr/>
        </p:nvGrpSpPr>
        <p:grpSpPr>
          <a:xfrm>
            <a:off x="4749900" y="1930540"/>
            <a:ext cx="3878545" cy="636866"/>
            <a:chOff x="3633030" y="5525245"/>
            <a:chExt cx="3878545" cy="636866"/>
          </a:xfrm>
        </p:grpSpPr>
        <p:sp>
          <p:nvSpPr>
            <p:cNvPr id="13" name="Hình chữ nhật 12">
              <a:extLst>
                <a:ext uri="{FF2B5EF4-FFF2-40B4-BE49-F238E27FC236}">
                  <a16:creationId xmlns:a16="http://schemas.microsoft.com/office/drawing/2014/main" id="{9950EA47-59D4-EDFF-EB08-FD638B70DFB0}"/>
                </a:ext>
              </a:extLst>
            </p:cNvPr>
            <p:cNvSpPr/>
            <p:nvPr/>
          </p:nvSpPr>
          <p:spPr>
            <a:xfrm>
              <a:off x="3646383" y="5525245"/>
              <a:ext cx="1804902" cy="636866"/>
            </a:xfrm>
            <a:prstGeom prst="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Hộp Văn bản 15">
                  <a:extLst>
                    <a:ext uri="{FF2B5EF4-FFF2-40B4-BE49-F238E27FC236}">
                      <a16:creationId xmlns:a16="http://schemas.microsoft.com/office/drawing/2014/main" id="{40D47FF9-F433-5D32-90A1-82F414DF62AD}"/>
                    </a:ext>
                  </a:extLst>
                </p:cNvPr>
                <p:cNvSpPr txBox="1"/>
                <p:nvPr/>
              </p:nvSpPr>
              <p:spPr>
                <a:xfrm>
                  <a:off x="3633030" y="5562543"/>
                  <a:ext cx="1690014" cy="5622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ọ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2</m:t>
                        </m:r>
                      </m:oMath>
                    </m:oMathPara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16" name="Hộp Văn bản 15">
                  <a:extLst>
                    <a:ext uri="{FF2B5EF4-FFF2-40B4-BE49-F238E27FC236}">
                      <a16:creationId xmlns:a16="http://schemas.microsoft.com/office/drawing/2014/main" id="{40D47FF9-F433-5D32-90A1-82F414DF6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3030" y="5562543"/>
                  <a:ext cx="1690014" cy="562270"/>
                </a:xfrm>
                <a:prstGeom prst="rect">
                  <a:avLst/>
                </a:prstGeom>
                <a:blipFill>
                  <a:blip r:embed="rId15"/>
                  <a:stretch>
                    <a:fillRect b="-1087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Hình chữ nhật 21">
              <a:extLst>
                <a:ext uri="{FF2B5EF4-FFF2-40B4-BE49-F238E27FC236}">
                  <a16:creationId xmlns:a16="http://schemas.microsoft.com/office/drawing/2014/main" id="{5D0ED500-CC83-9D9C-D572-548C1E98F9D3}"/>
                </a:ext>
              </a:extLst>
            </p:cNvPr>
            <p:cNvSpPr/>
            <p:nvPr/>
          </p:nvSpPr>
          <p:spPr>
            <a:xfrm>
              <a:off x="5706673" y="5525245"/>
              <a:ext cx="1804902" cy="636866"/>
            </a:xfrm>
            <a:prstGeom prst="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Hộp Văn bản 41">
                  <a:extLst>
                    <a:ext uri="{FF2B5EF4-FFF2-40B4-BE49-F238E27FC236}">
                      <a16:creationId xmlns:a16="http://schemas.microsoft.com/office/drawing/2014/main" id="{EC8D6C10-2B0E-77D6-D555-31B8152F71B3}"/>
                    </a:ext>
                  </a:extLst>
                </p:cNvPr>
                <p:cNvSpPr txBox="1"/>
                <p:nvPr/>
              </p:nvSpPr>
              <p:spPr>
                <a:xfrm>
                  <a:off x="5693320" y="5562543"/>
                  <a:ext cx="1818255" cy="560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ọ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64</m:t>
                        </m:r>
                      </m:oMath>
                    </m:oMathPara>
                  </a14:m>
                  <a:endParaRPr lang="vi-VN" dirty="0"/>
                </a:p>
              </p:txBody>
            </p:sp>
          </mc:Choice>
          <mc:Fallback xmlns="">
            <p:sp>
              <p:nvSpPr>
                <p:cNvPr id="42" name="Hộp Văn bản 41">
                  <a:extLst>
                    <a:ext uri="{FF2B5EF4-FFF2-40B4-BE49-F238E27FC236}">
                      <a16:creationId xmlns:a16="http://schemas.microsoft.com/office/drawing/2014/main" id="{EC8D6C10-2B0E-77D6-D555-31B8152F7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3320" y="5562543"/>
                  <a:ext cx="1818255" cy="5609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6913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E4900B0-C6E5-2D82-6D3A-6F5A702A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85C03F0A-F7BE-8807-622B-F9686F70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</a:t>
            </a:r>
            <a:r>
              <a:rPr lang="en-US" err="1"/>
              <a:t>Lựa</a:t>
            </a:r>
            <a:r>
              <a:rPr lang="en-US"/>
              <a:t> </a:t>
            </a:r>
            <a:r>
              <a:rPr lang="en-US" err="1"/>
              <a:t>chọn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thiết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mạch</a:t>
            </a:r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3FA3DC1-D921-68EF-E777-78852DADD97C}"/>
              </a:ext>
            </a:extLst>
          </p:cNvPr>
          <p:cNvSpPr txBox="1"/>
          <p:nvPr/>
        </p:nvSpPr>
        <p:spPr>
          <a:xfrm>
            <a:off x="431800" y="990600"/>
            <a:ext cx="2693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err="1"/>
              <a:t>Cấu</a:t>
            </a:r>
            <a:r>
              <a:rPr lang="en-US" b="1"/>
              <a:t> </a:t>
            </a:r>
            <a:r>
              <a:rPr lang="en-US" b="1" err="1"/>
              <a:t>trúc</a:t>
            </a:r>
            <a:r>
              <a:rPr lang="en-US" b="1"/>
              <a:t> </a:t>
            </a:r>
            <a:r>
              <a:rPr lang="en-US" b="1" err="1"/>
              <a:t>mạch</a:t>
            </a:r>
            <a:r>
              <a:rPr lang="en-US" b="1"/>
              <a:t> </a:t>
            </a:r>
            <a:r>
              <a:rPr lang="en-US" b="1" err="1"/>
              <a:t>và</a:t>
            </a:r>
            <a:r>
              <a:rPr lang="en-US" b="1"/>
              <a:t> sizing</a:t>
            </a:r>
            <a:endParaRPr lang="vi-VN" b="1"/>
          </a:p>
        </p:txBody>
      </p:sp>
      <p:graphicFrame>
        <p:nvGraphicFramePr>
          <p:cNvPr id="8" name="Bảng 7">
            <a:extLst>
              <a:ext uri="{FF2B5EF4-FFF2-40B4-BE49-F238E27FC236}">
                <a16:creationId xmlns:a16="http://schemas.microsoft.com/office/drawing/2014/main" id="{52CB8B47-A660-DEF2-7A23-ED990DDC6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679535"/>
              </p:ext>
            </p:extLst>
          </p:nvPr>
        </p:nvGraphicFramePr>
        <p:xfrm>
          <a:off x="4981433" y="1175266"/>
          <a:ext cx="3771900" cy="3160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1365702820"/>
                    </a:ext>
                  </a:extLst>
                </a:gridCol>
                <a:gridCol w="1331961">
                  <a:extLst>
                    <a:ext uri="{9D8B030D-6E8A-4147-A177-3AD203B41FA5}">
                      <a16:colId xmlns:a16="http://schemas.microsoft.com/office/drawing/2014/main" val="3405511850"/>
                    </a:ext>
                  </a:extLst>
                </a:gridCol>
                <a:gridCol w="1182639">
                  <a:extLst>
                    <a:ext uri="{9D8B030D-6E8A-4147-A177-3AD203B41FA5}">
                      <a16:colId xmlns:a16="http://schemas.microsoft.com/office/drawing/2014/main" val="1065119451"/>
                    </a:ext>
                  </a:extLst>
                </a:gridCol>
              </a:tblGrid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MOSFET</a:t>
                      </a:r>
                      <a:endParaRPr lang="vi-VN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W/L</a:t>
                      </a:r>
                      <a:endParaRPr lang="vi-VN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Sizing</a:t>
                      </a:r>
                      <a:endParaRPr lang="vi-VN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9932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M1, M2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2um/0.5um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3849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M3, M4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1um/1um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693195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M6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1um/1um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664620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M0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0.5um/1um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214759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M5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0.5um/1um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32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775455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M7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0.5um/1um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64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2242"/>
                  </a:ext>
                </a:extLst>
              </a:tr>
            </a:tbl>
          </a:graphicData>
        </a:graphic>
      </p:graphicFrame>
      <p:graphicFrame>
        <p:nvGraphicFramePr>
          <p:cNvPr id="9" name="Bảng 8">
            <a:extLst>
              <a:ext uri="{FF2B5EF4-FFF2-40B4-BE49-F238E27FC236}">
                <a16:creationId xmlns:a16="http://schemas.microsoft.com/office/drawing/2014/main" id="{4EF93435-C1F1-40DF-B58C-608627354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003606"/>
              </p:ext>
            </p:extLst>
          </p:nvPr>
        </p:nvGraphicFramePr>
        <p:xfrm>
          <a:off x="4981431" y="4571442"/>
          <a:ext cx="3771902" cy="13467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5951">
                  <a:extLst>
                    <a:ext uri="{9D8B030D-6E8A-4147-A177-3AD203B41FA5}">
                      <a16:colId xmlns:a16="http://schemas.microsoft.com/office/drawing/2014/main" val="1680170299"/>
                    </a:ext>
                  </a:extLst>
                </a:gridCol>
                <a:gridCol w="1885951">
                  <a:extLst>
                    <a:ext uri="{9D8B030D-6E8A-4147-A177-3AD203B41FA5}">
                      <a16:colId xmlns:a16="http://schemas.microsoft.com/office/drawing/2014/main" val="1079745797"/>
                    </a:ext>
                  </a:extLst>
                </a:gridCol>
              </a:tblGrid>
              <a:tr h="44941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Components</a:t>
                      </a:r>
                      <a:endParaRPr lang="vi-VN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vi-VN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825656"/>
                  </a:ext>
                </a:extLst>
              </a:tr>
              <a:tr h="44792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r>
                        <a:rPr lang="en-US" baseline="-25000"/>
                        <a:t>C</a:t>
                      </a:r>
                      <a:endParaRPr lang="vi-V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0.3pF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228444"/>
                  </a:ext>
                </a:extLst>
              </a:tr>
              <a:tr h="44941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40kOhm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03398"/>
                  </a:ext>
                </a:extLst>
              </a:tr>
            </a:tbl>
          </a:graphicData>
        </a:graphic>
      </p:graphicFrame>
      <p:pic>
        <p:nvPicPr>
          <p:cNvPr id="4" name="Hình ảnh 4">
            <a:extLst>
              <a:ext uri="{FF2B5EF4-FFF2-40B4-BE49-F238E27FC236}">
                <a16:creationId xmlns:a16="http://schemas.microsoft.com/office/drawing/2014/main" id="{11274186-2519-2391-C93C-EBFF8D8DC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4" y="1674733"/>
            <a:ext cx="4139796" cy="3771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FA03E9-FD19-936C-4BB5-D4F5FC4876E7}"/>
              </a:ext>
            </a:extLst>
          </p:cNvPr>
          <p:cNvSpPr txBox="1"/>
          <p:nvPr/>
        </p:nvSpPr>
        <p:spPr>
          <a:xfrm>
            <a:off x="1735496" y="3560568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B8C8D-262E-E973-F43E-FDD73AD370BB}"/>
              </a:ext>
            </a:extLst>
          </p:cNvPr>
          <p:cNvSpPr txBox="1"/>
          <p:nvPr/>
        </p:nvSpPr>
        <p:spPr>
          <a:xfrm>
            <a:off x="2668558" y="3560567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B1E3B-F0CE-A91E-8BD0-126E9A0A4C92}"/>
              </a:ext>
            </a:extLst>
          </p:cNvPr>
          <p:cNvSpPr txBox="1"/>
          <p:nvPr/>
        </p:nvSpPr>
        <p:spPr>
          <a:xfrm>
            <a:off x="1418255" y="2287016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32457-299D-8FE5-90BD-A221DB29D104}"/>
              </a:ext>
            </a:extLst>
          </p:cNvPr>
          <p:cNvSpPr txBox="1"/>
          <p:nvPr/>
        </p:nvSpPr>
        <p:spPr>
          <a:xfrm>
            <a:off x="3116426" y="2287015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77FAC-0336-4CB2-EB47-A2E8DD3B424F}"/>
              </a:ext>
            </a:extLst>
          </p:cNvPr>
          <p:cNvSpPr txBox="1"/>
          <p:nvPr/>
        </p:nvSpPr>
        <p:spPr>
          <a:xfrm>
            <a:off x="2379359" y="4762737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6C9CB-AC07-0F40-298E-AA631ED95F7B}"/>
              </a:ext>
            </a:extLst>
          </p:cNvPr>
          <p:cNvSpPr txBox="1"/>
          <p:nvPr/>
        </p:nvSpPr>
        <p:spPr>
          <a:xfrm>
            <a:off x="376220" y="4762736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E602C-26B5-8E42-E25B-6B9706B1910F}"/>
              </a:ext>
            </a:extLst>
          </p:cNvPr>
          <p:cNvSpPr txBox="1"/>
          <p:nvPr/>
        </p:nvSpPr>
        <p:spPr>
          <a:xfrm>
            <a:off x="4166172" y="2737994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3DBB11-4AD9-B4E2-5842-96C7F3935825}"/>
                  </a:ext>
                </a:extLst>
              </p:cNvPr>
              <p:cNvSpPr txBox="1"/>
              <p:nvPr/>
            </p:nvSpPr>
            <p:spPr>
              <a:xfrm>
                <a:off x="3264218" y="3422066"/>
                <a:ext cx="600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3DBB11-4AD9-B4E2-5842-96C7F3935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218" y="3422066"/>
                <a:ext cx="60015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12F6D0-817D-4758-CBDF-E4ABE79DB650}"/>
                  </a:ext>
                </a:extLst>
              </p:cNvPr>
              <p:cNvSpPr txBox="1"/>
              <p:nvPr/>
            </p:nvSpPr>
            <p:spPr>
              <a:xfrm>
                <a:off x="1006211" y="3406090"/>
                <a:ext cx="600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𝐼𝑁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12F6D0-817D-4758-CBDF-E4ABE79DB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11" y="3406090"/>
                <a:ext cx="60015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FB49ED-BB97-6681-A4DC-281D3FB888F0}"/>
                  </a:ext>
                </a:extLst>
              </p:cNvPr>
              <p:cNvSpPr txBox="1"/>
              <p:nvPr/>
            </p:nvSpPr>
            <p:spPr>
              <a:xfrm>
                <a:off x="170948" y="2876493"/>
                <a:ext cx="600152" cy="476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US" sz="1200" b="0"/>
              </a:p>
              <a:p>
                <a:endParaRPr lang="en-US" sz="120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FB49ED-BB97-6681-A4DC-281D3FB88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48" y="2876493"/>
                <a:ext cx="600152" cy="4764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D52D0A-FAB5-4964-E1AA-217F45DDDB68}"/>
                  </a:ext>
                </a:extLst>
              </p:cNvPr>
              <p:cNvSpPr txBox="1"/>
              <p:nvPr/>
            </p:nvSpPr>
            <p:spPr>
              <a:xfrm>
                <a:off x="2227075" y="1674730"/>
                <a:ext cx="600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𝑉𝐷𝐷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D52D0A-FAB5-4964-E1AA-217F45DDD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075" y="1674730"/>
                <a:ext cx="60015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D6B911-38A1-383E-DFC0-6997EF3614A1}"/>
                  </a:ext>
                </a:extLst>
              </p:cNvPr>
              <p:cNvSpPr txBox="1"/>
              <p:nvPr/>
            </p:nvSpPr>
            <p:spPr>
              <a:xfrm>
                <a:off x="2079283" y="5231565"/>
                <a:ext cx="600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D6B911-38A1-383E-DFC0-6997EF361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283" y="5231565"/>
                <a:ext cx="60015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14">
            <a:extLst>
              <a:ext uri="{FF2B5EF4-FFF2-40B4-BE49-F238E27FC236}">
                <a16:creationId xmlns:a16="http://schemas.microsoft.com/office/drawing/2014/main" id="{7E484908-D65C-2ACC-9D6A-0382B4A210BD}"/>
              </a:ext>
            </a:extLst>
          </p:cNvPr>
          <p:cNvSpPr txBox="1"/>
          <p:nvPr/>
        </p:nvSpPr>
        <p:spPr>
          <a:xfrm>
            <a:off x="4180116" y="4762735"/>
            <a:ext cx="44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M7</a:t>
            </a:r>
          </a:p>
        </p:txBody>
      </p:sp>
    </p:spTree>
    <p:extLst>
      <p:ext uri="{BB962C8B-B14F-4D97-AF65-F5344CB8AC3E}">
        <p14:creationId xmlns:p14="http://schemas.microsoft.com/office/powerpoint/2010/main" val="391814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DADFC10B-6ED1-1C2A-F067-A7C27732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84969598-03FF-BE8E-846B-D9939AFC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phỏng</a:t>
            </a:r>
            <a:endParaRPr lang="vi-VN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25A5BBB5-7F91-F923-4BB5-F40C7743C0FD}"/>
              </a:ext>
            </a:extLst>
          </p:cNvPr>
          <p:cNvSpPr txBox="1"/>
          <p:nvPr/>
        </p:nvSpPr>
        <p:spPr>
          <a:xfrm>
            <a:off x="493699" y="1287979"/>
            <a:ext cx="4845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Chạy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phỏng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LTSpice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</a:t>
            </a:r>
            <a:r>
              <a:rPr lang="en-US" err="1"/>
              <a:t>câu</a:t>
            </a:r>
            <a:r>
              <a:rPr lang="en-US"/>
              <a:t> </a:t>
            </a:r>
            <a:r>
              <a:rPr lang="en-US" err="1"/>
              <a:t>lệnh</a:t>
            </a:r>
            <a:r>
              <a:rPr lang="en-US"/>
              <a:t> .op </a:t>
            </a:r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2DDCD591-52A7-867D-293D-FCCAB59C1561}"/>
              </a:ext>
            </a:extLst>
          </p:cNvPr>
          <p:cNvSpPr txBox="1"/>
          <p:nvPr/>
        </p:nvSpPr>
        <p:spPr>
          <a:xfrm>
            <a:off x="235077" y="942004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err="1"/>
              <a:t>Mô</a:t>
            </a:r>
            <a:r>
              <a:rPr lang="en-US" b="1"/>
              <a:t> </a:t>
            </a:r>
            <a:r>
              <a:rPr lang="en-US" b="1" err="1"/>
              <a:t>phỏng</a:t>
            </a:r>
            <a:r>
              <a:rPr lang="en-US" b="1"/>
              <a:t> DC</a:t>
            </a:r>
            <a:endParaRPr lang="vi-VN" b="1"/>
          </a:p>
        </p:txBody>
      </p:sp>
      <p:graphicFrame>
        <p:nvGraphicFramePr>
          <p:cNvPr id="19" name="Bảng 18">
            <a:extLst>
              <a:ext uri="{FF2B5EF4-FFF2-40B4-BE49-F238E27FC236}">
                <a16:creationId xmlns:a16="http://schemas.microsoft.com/office/drawing/2014/main" id="{0AB0F247-DB76-3CBD-1F2E-B1D643AFB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75214"/>
              </p:ext>
            </p:extLst>
          </p:nvPr>
        </p:nvGraphicFramePr>
        <p:xfrm>
          <a:off x="400350" y="1801070"/>
          <a:ext cx="262345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1729">
                  <a:extLst>
                    <a:ext uri="{9D8B030D-6E8A-4147-A177-3AD203B41FA5}">
                      <a16:colId xmlns:a16="http://schemas.microsoft.com/office/drawing/2014/main" val="2319258363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315953407"/>
                    </a:ext>
                  </a:extLst>
                </a:gridCol>
              </a:tblGrid>
              <a:tr h="249405">
                <a:tc>
                  <a:txBody>
                    <a:bodyPr/>
                    <a:lstStyle/>
                    <a:p>
                      <a:r>
                        <a:rPr lang="en-US"/>
                        <a:t>Condition</a:t>
                      </a:r>
                      <a:endParaRPr lang="vi-V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Detail</a:t>
                      </a:r>
                      <a:endParaRPr lang="vi-V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7420"/>
                  </a:ext>
                </a:extLst>
              </a:tr>
              <a:tr h="249405">
                <a:tc>
                  <a:txBody>
                    <a:bodyPr/>
                    <a:lstStyle/>
                    <a:p>
                      <a:r>
                        <a:rPr lang="en-US"/>
                        <a:t>Sim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DC op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82830"/>
                  </a:ext>
                </a:extLst>
              </a:tr>
              <a:tr h="249405">
                <a:tc>
                  <a:txBody>
                    <a:bodyPr/>
                    <a:lstStyle/>
                    <a:p>
                      <a:r>
                        <a:rPr lang="en-US"/>
                        <a:t>VDD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3.3V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05299"/>
                  </a:ext>
                </a:extLst>
              </a:tr>
              <a:tr h="249405">
                <a:tc>
                  <a:txBody>
                    <a:bodyPr/>
                    <a:lstStyle/>
                    <a:p>
                      <a:r>
                        <a:rPr lang="en-US"/>
                        <a:t>I</a:t>
                      </a:r>
                      <a:r>
                        <a:rPr lang="en-US" baseline="-25000"/>
                        <a:t>REF</a:t>
                      </a:r>
                      <a:endParaRPr lang="vi-VN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1uA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549796"/>
                  </a:ext>
                </a:extLst>
              </a:tr>
            </a:tbl>
          </a:graphicData>
        </a:graphic>
      </p:graphicFrame>
      <p:grpSp>
        <p:nvGrpSpPr>
          <p:cNvPr id="20" name="Nhóm 19">
            <a:extLst>
              <a:ext uri="{FF2B5EF4-FFF2-40B4-BE49-F238E27FC236}">
                <a16:creationId xmlns:a16="http://schemas.microsoft.com/office/drawing/2014/main" id="{4DD82A5F-CD13-24D0-456C-893ED3DA9F53}"/>
              </a:ext>
            </a:extLst>
          </p:cNvPr>
          <p:cNvGrpSpPr/>
          <p:nvPr/>
        </p:nvGrpSpPr>
        <p:grpSpPr>
          <a:xfrm>
            <a:off x="3051453" y="4766929"/>
            <a:ext cx="5873330" cy="929126"/>
            <a:chOff x="410736" y="4779394"/>
            <a:chExt cx="5873330" cy="929126"/>
          </a:xfrm>
        </p:grpSpPr>
        <p:sp>
          <p:nvSpPr>
            <p:cNvPr id="16" name="Hộp Văn bản 15">
              <a:extLst>
                <a:ext uri="{FF2B5EF4-FFF2-40B4-BE49-F238E27FC236}">
                  <a16:creationId xmlns:a16="http://schemas.microsoft.com/office/drawing/2014/main" id="{B29CA4D5-7427-E855-FACB-9149DF4BBC9A}"/>
                </a:ext>
              </a:extLst>
            </p:cNvPr>
            <p:cNvSpPr txBox="1"/>
            <p:nvPr/>
          </p:nvSpPr>
          <p:spPr>
            <a:xfrm>
              <a:off x="410736" y="4779394"/>
              <a:ext cx="3072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Tất</a:t>
              </a:r>
              <a:r>
                <a:rPr lang="en-US"/>
                <a:t> </a:t>
              </a:r>
              <a:r>
                <a:rPr lang="en-US" err="1"/>
                <a:t>cả</a:t>
              </a:r>
              <a:r>
                <a:rPr lang="en-US"/>
                <a:t> MOSFET ở </a:t>
              </a:r>
              <a:r>
                <a:rPr lang="en-US" err="1"/>
                <a:t>vùng</a:t>
              </a:r>
              <a:r>
                <a:rPr lang="en-US"/>
                <a:t> </a:t>
              </a:r>
              <a:r>
                <a:rPr lang="en-US" err="1"/>
                <a:t>bão</a:t>
              </a:r>
              <a:r>
                <a:rPr lang="en-US"/>
                <a:t> </a:t>
              </a:r>
              <a:r>
                <a:rPr lang="en-US" err="1"/>
                <a:t>hòa</a:t>
              </a:r>
              <a:endParaRPr lang="vi-V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Hộp Văn bản 16">
                  <a:extLst>
                    <a:ext uri="{FF2B5EF4-FFF2-40B4-BE49-F238E27FC236}">
                      <a16:creationId xmlns:a16="http://schemas.microsoft.com/office/drawing/2014/main" id="{D650CEB6-8374-020A-7A28-5BDACBBB068D}"/>
                    </a:ext>
                  </a:extLst>
                </p:cNvPr>
                <p:cNvSpPr txBox="1"/>
                <p:nvPr/>
              </p:nvSpPr>
              <p:spPr>
                <a:xfrm>
                  <a:off x="1096236" y="5431521"/>
                  <a:ext cx="51878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𝑉𝐷𝐷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𝐼𝑡𝑜𝑡𝑎𝑙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=3,3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×50,1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=1,65. 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vi-VN"/>
                </a:p>
              </p:txBody>
            </p:sp>
          </mc:Choice>
          <mc:Fallback xmlns="">
            <p:sp>
              <p:nvSpPr>
                <p:cNvPr id="17" name="Hộp Văn bản 16">
                  <a:extLst>
                    <a:ext uri="{FF2B5EF4-FFF2-40B4-BE49-F238E27FC236}">
                      <a16:creationId xmlns:a16="http://schemas.microsoft.com/office/drawing/2014/main" id="{D650CEB6-8374-020A-7A28-5BDACBBB0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236" y="5431521"/>
                  <a:ext cx="518783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70" b="-11111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33AB4D4B-3E29-CF17-0674-26A8A4D4D59F}"/>
                </a:ext>
              </a:extLst>
            </p:cNvPr>
            <p:cNvSpPr txBox="1"/>
            <p:nvPr/>
          </p:nvSpPr>
          <p:spPr>
            <a:xfrm>
              <a:off x="410736" y="5062189"/>
              <a:ext cx="2854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Công </a:t>
              </a:r>
              <a:r>
                <a:rPr lang="en-US" err="1"/>
                <a:t>suất</a:t>
              </a:r>
              <a:r>
                <a:rPr lang="en-US"/>
                <a:t> </a:t>
              </a:r>
              <a:r>
                <a:rPr lang="en-US" err="1"/>
                <a:t>tiêu</a:t>
              </a:r>
              <a:r>
                <a:rPr lang="en-US"/>
                <a:t> </a:t>
              </a:r>
              <a:r>
                <a:rPr lang="en-US" err="1"/>
                <a:t>thụ</a:t>
              </a:r>
              <a:r>
                <a:rPr lang="en-US"/>
                <a:t> </a:t>
              </a:r>
              <a:r>
                <a:rPr lang="en-US" err="1"/>
                <a:t>của</a:t>
              </a:r>
              <a:r>
                <a:rPr lang="en-US"/>
                <a:t> </a:t>
              </a:r>
              <a:r>
                <a:rPr lang="en-US" err="1"/>
                <a:t>mạch</a:t>
              </a:r>
              <a:endParaRPr lang="vi-VN"/>
            </a:p>
          </p:txBody>
        </p:sp>
      </p:grp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9D888F95-6612-7162-5EA2-D0F53B9A9157}"/>
              </a:ext>
            </a:extLst>
          </p:cNvPr>
          <p:cNvGrpSpPr/>
          <p:nvPr/>
        </p:nvGrpSpPr>
        <p:grpSpPr>
          <a:xfrm>
            <a:off x="3163540" y="1748825"/>
            <a:ext cx="5761244" cy="2937475"/>
            <a:chOff x="3163539" y="1748825"/>
            <a:chExt cx="6463061" cy="3013535"/>
          </a:xfrm>
        </p:grpSpPr>
        <p:pic>
          <p:nvPicPr>
            <p:cNvPr id="11" name="Hình ảnh 10">
              <a:extLst>
                <a:ext uri="{FF2B5EF4-FFF2-40B4-BE49-F238E27FC236}">
                  <a16:creationId xmlns:a16="http://schemas.microsoft.com/office/drawing/2014/main" id="{597CE5F6-FDB0-0570-0033-F0B49D7B0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3539" y="1765859"/>
              <a:ext cx="4265954" cy="2996501"/>
            </a:xfrm>
            <a:prstGeom prst="rect">
              <a:avLst/>
            </a:prstGeom>
          </p:spPr>
        </p:pic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17A15082-71DE-61D6-DEEA-827E6451D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9073" y="1748825"/>
              <a:ext cx="2407527" cy="29853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49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2DBE773-0515-0DF8-8693-656941FD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2DFF7F5E-67CA-3F5E-5D4D-7EB9F50D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phỏng</a:t>
            </a:r>
            <a:endParaRPr lang="vi-VN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CBD749B-5303-940C-C018-4B8229BE38C6}"/>
              </a:ext>
            </a:extLst>
          </p:cNvPr>
          <p:cNvSpPr txBox="1"/>
          <p:nvPr/>
        </p:nvSpPr>
        <p:spPr>
          <a:xfrm>
            <a:off x="235077" y="942004"/>
            <a:ext cx="1829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err="1"/>
              <a:t>Mô</a:t>
            </a:r>
            <a:r>
              <a:rPr lang="en-US" b="1"/>
              <a:t> </a:t>
            </a:r>
            <a:r>
              <a:rPr lang="en-US" b="1" err="1"/>
              <a:t>phỏng</a:t>
            </a:r>
            <a:r>
              <a:rPr lang="en-US" b="1"/>
              <a:t> AC:</a:t>
            </a:r>
            <a:endParaRPr lang="vi-VN" b="1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F131316-03F2-513E-1098-180FEAB19BA6}"/>
              </a:ext>
            </a:extLst>
          </p:cNvPr>
          <p:cNvSpPr txBox="1"/>
          <p:nvPr/>
        </p:nvSpPr>
        <p:spPr>
          <a:xfrm>
            <a:off x="489857" y="1249136"/>
            <a:ext cx="301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vi-VN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71573F1F-8A57-264D-D275-DE4D1227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5" y="1516131"/>
            <a:ext cx="2078912" cy="413714"/>
          </a:xfrm>
          <a:prstGeom prst="rect">
            <a:avLst/>
          </a:prstGeom>
        </p:spPr>
      </p:pic>
      <p:graphicFrame>
        <p:nvGraphicFramePr>
          <p:cNvPr id="9" name="Bảng 8">
            <a:extLst>
              <a:ext uri="{FF2B5EF4-FFF2-40B4-BE49-F238E27FC236}">
                <a16:creationId xmlns:a16="http://schemas.microsoft.com/office/drawing/2014/main" id="{3BE0A8CB-2C86-877A-BB9A-F8935E609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138503"/>
              </p:ext>
            </p:extLst>
          </p:nvPr>
        </p:nvGraphicFramePr>
        <p:xfrm>
          <a:off x="489857" y="1925600"/>
          <a:ext cx="2890157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272">
                  <a:extLst>
                    <a:ext uri="{9D8B030D-6E8A-4147-A177-3AD203B41FA5}">
                      <a16:colId xmlns:a16="http://schemas.microsoft.com/office/drawing/2014/main" val="1535705097"/>
                    </a:ext>
                  </a:extLst>
                </a:gridCol>
                <a:gridCol w="1042885">
                  <a:extLst>
                    <a:ext uri="{9D8B030D-6E8A-4147-A177-3AD203B41FA5}">
                      <a16:colId xmlns:a16="http://schemas.microsoft.com/office/drawing/2014/main" val="325606651"/>
                    </a:ext>
                  </a:extLst>
                </a:gridCol>
              </a:tblGrid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Condition</a:t>
                      </a:r>
                      <a:endParaRPr lang="vi-V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Detail</a:t>
                      </a:r>
                      <a:endParaRPr lang="vi-V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189249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Sim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302258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Sweep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Decade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702148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Point of decade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984960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Start frequency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1Hz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830851"/>
                  </a:ext>
                </a:extLst>
              </a:tr>
              <a:tr h="303431">
                <a:tc>
                  <a:txBody>
                    <a:bodyPr/>
                    <a:lstStyle/>
                    <a:p>
                      <a:r>
                        <a:rPr lang="en-US"/>
                        <a:t>Stop frequency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1GHz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686031"/>
                  </a:ext>
                </a:extLst>
              </a:tr>
            </a:tbl>
          </a:graphicData>
        </a:graphic>
      </p:graphicFrame>
      <p:grpSp>
        <p:nvGrpSpPr>
          <p:cNvPr id="15" name="Nhóm 14">
            <a:extLst>
              <a:ext uri="{FF2B5EF4-FFF2-40B4-BE49-F238E27FC236}">
                <a16:creationId xmlns:a16="http://schemas.microsoft.com/office/drawing/2014/main" id="{957E7023-2D89-0D2C-3152-4913A2314285}"/>
              </a:ext>
            </a:extLst>
          </p:cNvPr>
          <p:cNvGrpSpPr/>
          <p:nvPr/>
        </p:nvGrpSpPr>
        <p:grpSpPr>
          <a:xfrm>
            <a:off x="3752139" y="676931"/>
            <a:ext cx="4898687" cy="2648139"/>
            <a:chOff x="3532156" y="1846052"/>
            <a:chExt cx="5230757" cy="2648139"/>
          </a:xfrm>
        </p:grpSpPr>
        <p:pic>
          <p:nvPicPr>
            <p:cNvPr id="7" name="Hình ảnh 6">
              <a:extLst>
                <a:ext uri="{FF2B5EF4-FFF2-40B4-BE49-F238E27FC236}">
                  <a16:creationId xmlns:a16="http://schemas.microsoft.com/office/drawing/2014/main" id="{6C9F63CF-66B9-D50B-D38A-AB2B81318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32156" y="1846052"/>
              <a:ext cx="5230757" cy="2648139"/>
            </a:xfrm>
            <a:prstGeom prst="rect">
              <a:avLst/>
            </a:prstGeom>
          </p:spPr>
        </p:pic>
        <p:pic>
          <p:nvPicPr>
            <p:cNvPr id="10" name="Hình ảnh 9">
              <a:extLst>
                <a:ext uri="{FF2B5EF4-FFF2-40B4-BE49-F238E27FC236}">
                  <a16:creationId xmlns:a16="http://schemas.microsoft.com/office/drawing/2014/main" id="{F0A0A21B-EE33-CF60-5B35-4896177B4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6596" y="3068573"/>
              <a:ext cx="1257547" cy="1245014"/>
            </a:xfrm>
            <a:prstGeom prst="rect">
              <a:avLst/>
            </a:prstGeom>
          </p:spPr>
        </p:pic>
        <p:pic>
          <p:nvPicPr>
            <p:cNvPr id="12" name="Hình ảnh 11">
              <a:extLst>
                <a:ext uri="{FF2B5EF4-FFF2-40B4-BE49-F238E27FC236}">
                  <a16:creationId xmlns:a16="http://schemas.microsoft.com/office/drawing/2014/main" id="{4E632D27-C77F-733C-F09B-5A29FD2B5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2977" y="3068573"/>
              <a:ext cx="1257548" cy="1299607"/>
            </a:xfrm>
            <a:prstGeom prst="rect">
              <a:avLst/>
            </a:prstGeom>
          </p:spPr>
        </p:pic>
      </p:grp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772769DA-54D0-44E7-F8D7-980DE4973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456" y="3597524"/>
            <a:ext cx="4898687" cy="2434018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25F90AC3-3B88-A0B2-886E-AD5A22D5B650}"/>
              </a:ext>
            </a:extLst>
          </p:cNvPr>
          <p:cNvSpPr txBox="1"/>
          <p:nvPr/>
        </p:nvSpPr>
        <p:spPr>
          <a:xfrm>
            <a:off x="4437182" y="3261880"/>
            <a:ext cx="382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Hình</a:t>
            </a:r>
            <a:r>
              <a:rPr lang="en-US" b="1" i="1" dirty="0"/>
              <a:t> 1: </a:t>
            </a:r>
            <a:r>
              <a:rPr lang="en-US" b="1" i="1" dirty="0" err="1"/>
              <a:t>Kết</a:t>
            </a:r>
            <a:r>
              <a:rPr lang="en-US" b="1" i="1" dirty="0"/>
              <a:t> </a:t>
            </a:r>
            <a:r>
              <a:rPr lang="en-US" b="1" i="1" dirty="0" err="1"/>
              <a:t>quả</a:t>
            </a:r>
            <a:r>
              <a:rPr lang="en-US" b="1" i="1" dirty="0"/>
              <a:t> </a:t>
            </a:r>
            <a:r>
              <a:rPr lang="en-US" b="1" i="1" dirty="0" err="1"/>
              <a:t>đo</a:t>
            </a:r>
            <a:r>
              <a:rPr lang="en-US" b="1" i="1" dirty="0"/>
              <a:t> Gain </a:t>
            </a:r>
            <a:r>
              <a:rPr lang="en-US" b="1" i="1" dirty="0" err="1"/>
              <a:t>và</a:t>
            </a:r>
            <a:r>
              <a:rPr lang="en-US" b="1" i="1" dirty="0"/>
              <a:t> Bandwidth</a:t>
            </a:r>
            <a:endParaRPr lang="vi-VN" b="1" i="1" dirty="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8D0C6086-7A53-83E4-DFF5-073F17B09F36}"/>
              </a:ext>
            </a:extLst>
          </p:cNvPr>
          <p:cNvSpPr txBox="1"/>
          <p:nvPr/>
        </p:nvSpPr>
        <p:spPr>
          <a:xfrm>
            <a:off x="4678626" y="6040010"/>
            <a:ext cx="333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Hình</a:t>
            </a:r>
            <a:r>
              <a:rPr lang="en-US" b="1" i="1" dirty="0"/>
              <a:t> 2: </a:t>
            </a:r>
            <a:r>
              <a:rPr lang="en-US" b="1" i="1" dirty="0" err="1"/>
              <a:t>Kết</a:t>
            </a:r>
            <a:r>
              <a:rPr lang="en-US" b="1" i="1" dirty="0"/>
              <a:t> </a:t>
            </a:r>
            <a:r>
              <a:rPr lang="en-US" b="1" i="1" dirty="0" err="1"/>
              <a:t>quả</a:t>
            </a:r>
            <a:r>
              <a:rPr lang="en-US" b="1" i="1" dirty="0"/>
              <a:t> </a:t>
            </a:r>
            <a:r>
              <a:rPr lang="en-US" b="1" i="1" dirty="0" err="1"/>
              <a:t>đo</a:t>
            </a:r>
            <a:r>
              <a:rPr lang="en-US" b="1" i="1" dirty="0"/>
              <a:t> Phase Margin</a:t>
            </a:r>
            <a:endParaRPr lang="vi-VN" b="1" i="1" dirty="0"/>
          </a:p>
        </p:txBody>
      </p:sp>
    </p:spTree>
    <p:extLst>
      <p:ext uri="{BB962C8B-B14F-4D97-AF65-F5344CB8AC3E}">
        <p14:creationId xmlns:p14="http://schemas.microsoft.com/office/powerpoint/2010/main" val="1072305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AAC9733-2A31-28B9-0CA0-04B39D44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D2DE6AF4-55DE-C10E-6876-3B7C1345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phỏng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Bảng 4">
                <a:extLst>
                  <a:ext uri="{FF2B5EF4-FFF2-40B4-BE49-F238E27FC236}">
                    <a16:creationId xmlns:a16="http://schemas.microsoft.com/office/drawing/2014/main" id="{3345D8B8-9926-6E45-2CCC-37C0AC16F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253412"/>
                  </p:ext>
                </p:extLst>
              </p:nvPr>
            </p:nvGraphicFramePr>
            <p:xfrm>
              <a:off x="1442357" y="1756228"/>
              <a:ext cx="6096000" cy="313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92996098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3790167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51686769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562558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Thông </a:t>
                          </a:r>
                          <a:r>
                            <a:rPr lang="en-US" err="1"/>
                            <a:t>số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Yêu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cầu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Kết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quả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mô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phỏng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Pass/Fail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3989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100dB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76dB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Fail</a:t>
                          </a:r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5689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BW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/>
                            <a:t>10kHz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11kHz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881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PM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/>
                            <a:t>60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60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972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VDD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NA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09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Power Consumption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200uA@3.3V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1,65.  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472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Cload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1pF</a:t>
                          </a:r>
                          <a:endParaRPr lang="vi-V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1pF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</a:t>
                          </a:r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0296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Bảng 4">
                <a:extLst>
                  <a:ext uri="{FF2B5EF4-FFF2-40B4-BE49-F238E27FC236}">
                    <a16:creationId xmlns:a16="http://schemas.microsoft.com/office/drawing/2014/main" id="{3345D8B8-9926-6E45-2CCC-37C0AC16F9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0253412"/>
                  </p:ext>
                </p:extLst>
              </p:nvPr>
            </p:nvGraphicFramePr>
            <p:xfrm>
              <a:off x="1442357" y="1756228"/>
              <a:ext cx="6096000" cy="3134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92996098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3790167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51686769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5625583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Thông </a:t>
                          </a:r>
                          <a:r>
                            <a:rPr lang="en-US" err="1"/>
                            <a:t>số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Yêu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cầu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Kết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quả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mô</a:t>
                          </a:r>
                          <a:r>
                            <a:rPr lang="en-US"/>
                            <a:t> </a:t>
                          </a:r>
                          <a:r>
                            <a:rPr lang="en-US" err="1"/>
                            <a:t>phỏng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Pass/Fail</a:t>
                          </a:r>
                          <a:endParaRPr lang="vi-VN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39897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100dB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76dB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Fail</a:t>
                          </a:r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5689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BW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80328" r="-200000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11kHz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5881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PM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80328" r="-200000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380328" r="-100800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972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VDD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NA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0984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Power Consumption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200uA@3.3V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337143" r="-100800" b="-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</a:t>
                          </a:r>
                          <a:endParaRPr lang="vi-V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472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err="1"/>
                            <a:t>Cload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1pF</a:t>
                          </a:r>
                          <a:endParaRPr lang="vi-V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1pF</a:t>
                          </a:r>
                          <a:endParaRPr lang="vi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</a:t>
                          </a:r>
                          <a:endParaRPr lang="vi-V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0296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4D30F3B-509E-2BEC-8A67-CB0FB018BC36}"/>
              </a:ext>
            </a:extLst>
          </p:cNvPr>
          <p:cNvSpPr txBox="1"/>
          <p:nvPr/>
        </p:nvSpPr>
        <p:spPr>
          <a:xfrm>
            <a:off x="2678867" y="1290210"/>
            <a:ext cx="362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Bảng</a:t>
            </a:r>
            <a:r>
              <a:rPr lang="en-US" b="1" i="1" dirty="0"/>
              <a:t> 1: </a:t>
            </a:r>
            <a:r>
              <a:rPr lang="en-US" b="1" i="1" dirty="0" err="1"/>
              <a:t>Đánh</a:t>
            </a:r>
            <a:r>
              <a:rPr lang="en-US" b="1" i="1" dirty="0"/>
              <a:t> </a:t>
            </a:r>
            <a:r>
              <a:rPr lang="en-US" b="1" i="1" dirty="0" err="1"/>
              <a:t>giá</a:t>
            </a:r>
            <a:r>
              <a:rPr lang="en-US" b="1" i="1" dirty="0"/>
              <a:t> </a:t>
            </a:r>
            <a:r>
              <a:rPr lang="en-US" b="1" i="1" dirty="0" err="1"/>
              <a:t>kết</a:t>
            </a:r>
            <a:r>
              <a:rPr lang="en-US" b="1" i="1" dirty="0"/>
              <a:t> </a:t>
            </a:r>
            <a:r>
              <a:rPr lang="en-US" b="1" i="1" dirty="0" err="1"/>
              <a:t>quả</a:t>
            </a:r>
            <a:r>
              <a:rPr lang="en-US" b="1" i="1" dirty="0"/>
              <a:t> </a:t>
            </a:r>
            <a:r>
              <a:rPr lang="en-US" b="1" i="1" dirty="0" err="1"/>
              <a:t>mô</a:t>
            </a:r>
            <a:r>
              <a:rPr lang="en-US" b="1" i="1" dirty="0"/>
              <a:t> </a:t>
            </a:r>
            <a:r>
              <a:rPr lang="en-US" b="1" i="1" dirty="0" err="1"/>
              <a:t>phỏng</a:t>
            </a:r>
            <a:endParaRPr lang="vi-VN" b="1" i="1" dirty="0"/>
          </a:p>
        </p:txBody>
      </p:sp>
    </p:spTree>
    <p:extLst>
      <p:ext uri="{BB962C8B-B14F-4D97-AF65-F5344CB8AC3E}">
        <p14:creationId xmlns:p14="http://schemas.microsoft.com/office/powerpoint/2010/main" val="364652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1271</Words>
  <Application>Microsoft Office PowerPoint</Application>
  <PresentationFormat>On-screen Show (4:3)</PresentationFormat>
  <Paragraphs>311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 Mục lục</vt:lpstr>
      <vt:lpstr>1. Yêu cầu thiết kế</vt:lpstr>
      <vt:lpstr>1. Yêu cầu thiết kế</vt:lpstr>
      <vt:lpstr>2. Lập kế hoạch</vt:lpstr>
      <vt:lpstr>3. Thiết kế các khối và khảo sát PDK</vt:lpstr>
      <vt:lpstr>3. Thiết kế các khối và khảo sát PDK</vt:lpstr>
      <vt:lpstr>3. Thiết kế các khối và khảo sát PDK</vt:lpstr>
      <vt:lpstr>4. Lựa chọn cấu trúc và thiết kế mạch</vt:lpstr>
      <vt:lpstr>4. Lựa chọn cấu trúc và thiết kế mạch</vt:lpstr>
      <vt:lpstr>4. Lựa chọn cấu trúc và thiết kế mạch</vt:lpstr>
      <vt:lpstr>4. Lựa chọn cấu trúc và thiết kế mạch</vt:lpstr>
      <vt:lpstr>5. Kết quả mô phỏng</vt:lpstr>
      <vt:lpstr>5. Kết quả mô phỏng</vt:lpstr>
      <vt:lpstr>6. Đánh giá kết quả mô phỏng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Thao Vu</cp:lastModifiedBy>
  <cp:revision>2</cp:revision>
  <dcterms:created xsi:type="dcterms:W3CDTF">2021-05-28T04:32:29Z</dcterms:created>
  <dcterms:modified xsi:type="dcterms:W3CDTF">2026-07-17T07:25:33Z</dcterms:modified>
</cp:coreProperties>
</file>